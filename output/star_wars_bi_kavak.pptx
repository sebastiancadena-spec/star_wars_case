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1" d="100"/>
          <a:sy n="121" d="100"/>
        </p:scale>
        <p:origin x="15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058400" cy="2011680"/>
          </a:xfrm>
          <a:prstGeom prst="rect">
            <a:avLst/>
          </a:prstGeom>
          <a:noFill/>
        </p:spPr>
        <p:txBody>
          <a:bodyPr wrap="square">
            <a:spAutoFit/>
          </a:bodyPr>
          <a:lstStyle/>
          <a:p>
            <a:pPr algn="l"/>
            <a:r>
              <a:rPr sz="3400" b="1">
                <a:solidFill>
                  <a:srgbClr val="FFFFFF"/>
                </a:solidFill>
                <a:latin typeface="Arial"/>
              </a:rPr>
              <a:t>INTELIGENCIA ESTRATEGICA DE
LA GALAXIA: LOGISTICA Y OPERACIONES</a:t>
            </a:r>
          </a:p>
        </p:txBody>
      </p:sp>
      <p:sp>
        <p:nvSpPr>
          <p:cNvPr id="5" name="TextBox 4"/>
          <p:cNvSpPr txBox="1"/>
          <p:nvPr/>
        </p:nvSpPr>
        <p:spPr>
          <a:xfrm>
            <a:off x="914400" y="3474720"/>
            <a:ext cx="8229600" cy="548640"/>
          </a:xfrm>
          <a:prstGeom prst="rect">
            <a:avLst/>
          </a:prstGeom>
          <a:noFill/>
        </p:spPr>
        <p:txBody>
          <a:bodyPr wrap="square">
            <a:spAutoFit/>
          </a:bodyPr>
          <a:lstStyle/>
          <a:p>
            <a:pPr algn="l"/>
            <a:r>
              <a:rPr sz="1600" b="0">
                <a:solidFill>
                  <a:srgbClr val="C9A84C"/>
                </a:solidFill>
                <a:latin typeface="Arial"/>
              </a:rPr>
              <a:t>Reporte de Inteligencia Estrategica para el Consejo Jedi</a:t>
            </a:r>
          </a:p>
        </p:txBody>
      </p:sp>
      <p:cxnSp>
        <p:nvCxnSpPr>
          <p:cNvPr id="6" name="Connector 5"/>
          <p:cNvCxnSpPr/>
          <p:nvPr/>
        </p:nvCxnSpPr>
        <p:spPr>
          <a:xfrm>
            <a:off x="457200" y="4206240"/>
            <a:ext cx="11274552"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4480560"/>
            <a:ext cx="9144000" cy="365760"/>
          </a:xfrm>
          <a:prstGeom prst="rect">
            <a:avLst/>
          </a:prstGeom>
          <a:noFill/>
        </p:spPr>
        <p:txBody>
          <a:bodyPr wrap="square">
            <a:spAutoFit/>
          </a:bodyPr>
          <a:lstStyle/>
          <a:p>
            <a:pPr algn="l"/>
            <a:r>
              <a:rPr sz="1000" b="0">
                <a:solidFill>
                  <a:srgbClr val="8C9BAA"/>
                </a:solidFill>
                <a:latin typeface="Arial"/>
              </a:rPr>
              <a:t>Preparado por: Sebastian Cadena  |  Mayo 2026  |  Confidencial</a:t>
            </a:r>
          </a:p>
        </p:txBody>
      </p:sp>
      <p:sp>
        <p:nvSpPr>
          <p:cNvPr id="8" name="TextBox 7"/>
          <p:cNvSpPr txBox="1"/>
          <p:nvPr/>
        </p:nvSpPr>
        <p:spPr>
          <a:xfrm>
            <a:off x="914400" y="5029200"/>
            <a:ext cx="9144000" cy="822960"/>
          </a:xfrm>
          <a:prstGeom prst="rect">
            <a:avLst/>
          </a:prstGeom>
          <a:noFill/>
        </p:spPr>
        <p:txBody>
          <a:bodyPr wrap="square">
            <a:spAutoFit/>
          </a:bodyPr>
          <a:lstStyle/>
          <a:p>
            <a:pPr algn="l"/>
            <a:r>
              <a:rPr sz="1100" b="0">
                <a:solidFill>
                  <a:srgbClr val="D6DCE4"/>
                </a:solidFill>
                <a:latin typeface="Arial"/>
              </a:rPr>
              <a:t>MISION: Transformar datos imperiales interceptados en decisiones estrategicas
sobre eficiencia de flota, talento y optimizacion de inversiones.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6400800" cy="320040"/>
          </a:xfrm>
          <a:prstGeom prst="rect">
            <a:avLst/>
          </a:prstGeom>
          <a:noFill/>
        </p:spPr>
        <p:txBody>
          <a:bodyPr wrap="square">
            <a:spAutoFit/>
          </a:bodyPr>
          <a:lstStyle/>
          <a:p>
            <a:pPr algn="l"/>
            <a:r>
              <a:rPr sz="900" b="1">
                <a:solidFill>
                  <a:srgbClr val="C9A84C"/>
                </a:solidFill>
                <a:latin typeface="Arial"/>
              </a:rPr>
              <a:t>P1 | EFICIENCIA DE FLOTA</a:t>
            </a:r>
          </a:p>
        </p:txBody>
      </p:sp>
      <p:sp>
        <p:nvSpPr>
          <p:cNvPr id="4" name="TextBox 3"/>
          <p:cNvSpPr txBox="1"/>
          <p:nvPr/>
        </p:nvSpPr>
        <p:spPr>
          <a:xfrm>
            <a:off x="457200" y="502920"/>
            <a:ext cx="11247120" cy="914400"/>
          </a:xfrm>
          <a:prstGeom prst="rect">
            <a:avLst/>
          </a:prstGeom>
          <a:noFill/>
        </p:spPr>
        <p:txBody>
          <a:bodyPr wrap="square">
            <a:spAutoFit/>
          </a:bodyPr>
          <a:lstStyle/>
          <a:p>
            <a:pPr algn="l"/>
            <a:r>
              <a:rPr sz="1800" b="1">
                <a:solidFill>
                  <a:srgbClr val="1B2A4A"/>
                </a:solidFill>
                <a:latin typeface="Arial"/>
              </a:rPr>
              <a:t>El Halcon Milenario ofrece el mejor valor: costo por pasajero 6 veces menor
que cualquier otra nave, pero la evacuacion masiva exige al Executor.</a:t>
            </a:r>
          </a:p>
        </p:txBody>
      </p:sp>
      <p:cxnSp>
        <p:nvCxnSpPr>
          <p:cNvPr id="5" name="Connector 4"/>
          <p:cNvCxnSpPr/>
          <p:nvPr/>
        </p:nvCxnSpPr>
        <p:spPr>
          <a:xfrm>
            <a:off x="457200" y="1463040"/>
            <a:ext cx="11274552"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645920"/>
            <a:ext cx="2560320" cy="11887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755648"/>
            <a:ext cx="2286000" cy="640080"/>
          </a:xfrm>
          <a:prstGeom prst="rect">
            <a:avLst/>
          </a:prstGeom>
          <a:noFill/>
        </p:spPr>
        <p:txBody>
          <a:bodyPr wrap="square">
            <a:spAutoFit/>
          </a:bodyPr>
          <a:lstStyle/>
          <a:p>
            <a:pPr algn="ctr"/>
            <a:r>
              <a:rPr sz="2400" b="1">
                <a:solidFill>
                  <a:srgbClr val="1B2A4A"/>
                </a:solidFill>
                <a:latin typeface="Arial"/>
              </a:rPr>
              <a:t>4</a:t>
            </a:r>
          </a:p>
        </p:txBody>
      </p:sp>
      <p:sp>
        <p:nvSpPr>
          <p:cNvPr id="8" name="TextBox 7"/>
          <p:cNvSpPr txBox="1"/>
          <p:nvPr/>
        </p:nvSpPr>
        <p:spPr>
          <a:xfrm>
            <a:off x="548640" y="2496311"/>
            <a:ext cx="2377440" cy="365760"/>
          </a:xfrm>
          <a:prstGeom prst="rect">
            <a:avLst/>
          </a:prstGeom>
          <a:noFill/>
        </p:spPr>
        <p:txBody>
          <a:bodyPr wrap="square">
            <a:spAutoFit/>
          </a:bodyPr>
          <a:lstStyle/>
          <a:p>
            <a:pPr algn="ctr"/>
            <a:r>
              <a:rPr sz="900" dirty="0">
                <a:latin typeface="Arial"/>
              </a:rPr>
              <a:t>Naves con </a:t>
            </a:r>
            <a:r>
              <a:rPr sz="900" dirty="0" err="1">
                <a:latin typeface="Arial"/>
              </a:rPr>
              <a:t>datos</a:t>
            </a:r>
            <a:r>
              <a:rPr sz="900" dirty="0">
                <a:latin typeface="Arial"/>
              </a:rPr>
              <a:t> </a:t>
            </a:r>
            <a:r>
              <a:rPr sz="900" dirty="0" err="1">
                <a:latin typeface="Arial"/>
              </a:rPr>
              <a:t>validos</a:t>
            </a:r>
            <a:r>
              <a:rPr sz="900" dirty="0">
                <a:latin typeface="Arial"/>
              </a:rPr>
              <a:t> de </a:t>
            </a:r>
            <a:r>
              <a:rPr sz="900" dirty="0" err="1">
                <a:latin typeface="Arial"/>
              </a:rPr>
              <a:t>costo</a:t>
            </a:r>
            <a:r>
              <a:rPr sz="900" dirty="0">
                <a:latin typeface="Arial"/>
              </a:rPr>
              <a:t> y </a:t>
            </a:r>
            <a:r>
              <a:rPr sz="900" dirty="0" err="1">
                <a:latin typeface="Arial"/>
              </a:rPr>
              <a:t>pasajeros</a:t>
            </a:r>
            <a:endParaRPr sz="900" dirty="0">
              <a:latin typeface="Arial"/>
            </a:endParaRPr>
          </a:p>
        </p:txBody>
      </p:sp>
      <p:sp>
        <p:nvSpPr>
          <p:cNvPr id="9" name="Rectangle 8"/>
          <p:cNvSpPr/>
          <p:nvPr/>
        </p:nvSpPr>
        <p:spPr>
          <a:xfrm>
            <a:off x="3200400" y="1645920"/>
            <a:ext cx="2560320" cy="1188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755648"/>
            <a:ext cx="2286000" cy="640080"/>
          </a:xfrm>
          <a:prstGeom prst="rect">
            <a:avLst/>
          </a:prstGeom>
          <a:noFill/>
        </p:spPr>
        <p:txBody>
          <a:bodyPr wrap="square">
            <a:spAutoFit/>
          </a:bodyPr>
          <a:lstStyle/>
          <a:p>
            <a:pPr algn="ctr"/>
            <a:r>
              <a:rPr sz="2400" b="1">
                <a:solidFill>
                  <a:srgbClr val="FFFFFF"/>
                </a:solidFill>
                <a:latin typeface="Arial"/>
              </a:rPr>
              <a:t>16,667 creditos</a:t>
            </a:r>
          </a:p>
        </p:txBody>
      </p:sp>
      <p:sp>
        <p:nvSpPr>
          <p:cNvPr id="11" name="TextBox 10"/>
          <p:cNvSpPr txBox="1"/>
          <p:nvPr/>
        </p:nvSpPr>
        <p:spPr>
          <a:xfrm>
            <a:off x="3291840" y="2563775"/>
            <a:ext cx="2377440" cy="230832"/>
          </a:xfrm>
          <a:prstGeom prst="rect">
            <a:avLst/>
          </a:prstGeom>
          <a:noFill/>
        </p:spPr>
        <p:txBody>
          <a:bodyPr wrap="square">
            <a:spAutoFit/>
          </a:bodyPr>
          <a:lstStyle/>
          <a:p>
            <a:pPr algn="ctr"/>
            <a:r>
              <a:rPr sz="900" dirty="0">
                <a:latin typeface="Arial"/>
              </a:rPr>
              <a:t>Costo </a:t>
            </a:r>
            <a:r>
              <a:rPr sz="900" dirty="0" err="1">
                <a:latin typeface="Arial"/>
              </a:rPr>
              <a:t>por</a:t>
            </a:r>
            <a:r>
              <a:rPr sz="900" dirty="0">
                <a:latin typeface="Arial"/>
              </a:rPr>
              <a:t> </a:t>
            </a:r>
            <a:r>
              <a:rPr sz="900" dirty="0" err="1">
                <a:latin typeface="Arial"/>
              </a:rPr>
              <a:t>pasajero</a:t>
            </a:r>
            <a:r>
              <a:rPr sz="900" dirty="0">
                <a:latin typeface="Arial"/>
              </a:rPr>
              <a:t> - Halcon </a:t>
            </a:r>
            <a:r>
              <a:rPr sz="900" dirty="0" err="1">
                <a:latin typeface="Arial"/>
              </a:rPr>
              <a:t>Milenario</a:t>
            </a:r>
            <a:endParaRPr sz="900" dirty="0">
              <a:latin typeface="Arial"/>
            </a:endParaRPr>
          </a:p>
        </p:txBody>
      </p:sp>
      <p:sp>
        <p:nvSpPr>
          <p:cNvPr id="12" name="Rectangle 11"/>
          <p:cNvSpPr/>
          <p:nvPr/>
        </p:nvSpPr>
        <p:spPr>
          <a:xfrm>
            <a:off x="5943600" y="1645920"/>
            <a:ext cx="2560320" cy="11887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60" y="1755648"/>
            <a:ext cx="2286000" cy="640080"/>
          </a:xfrm>
          <a:prstGeom prst="rect">
            <a:avLst/>
          </a:prstGeom>
          <a:noFill/>
        </p:spPr>
        <p:txBody>
          <a:bodyPr wrap="square">
            <a:spAutoFit/>
          </a:bodyPr>
          <a:lstStyle/>
          <a:p>
            <a:pPr algn="ctr"/>
            <a:r>
              <a:rPr sz="2400" b="1">
                <a:solidFill>
                  <a:srgbClr val="1B2A4A"/>
                </a:solidFill>
                <a:latin typeface="Arial"/>
              </a:rPr>
              <a:t>38,000</a:t>
            </a:r>
          </a:p>
        </p:txBody>
      </p:sp>
      <p:sp>
        <p:nvSpPr>
          <p:cNvPr id="14" name="TextBox 13"/>
          <p:cNvSpPr txBox="1"/>
          <p:nvPr/>
        </p:nvSpPr>
        <p:spPr>
          <a:xfrm>
            <a:off x="6035040" y="2563775"/>
            <a:ext cx="2377440" cy="230832"/>
          </a:xfrm>
          <a:prstGeom prst="rect">
            <a:avLst/>
          </a:prstGeom>
          <a:noFill/>
        </p:spPr>
        <p:txBody>
          <a:bodyPr wrap="square">
            <a:spAutoFit/>
          </a:bodyPr>
          <a:lstStyle/>
          <a:p>
            <a:pPr algn="ctr"/>
            <a:r>
              <a:rPr sz="900" dirty="0" err="1">
                <a:latin typeface="Arial"/>
              </a:rPr>
              <a:t>Capacidad</a:t>
            </a:r>
            <a:r>
              <a:rPr sz="900" dirty="0">
                <a:latin typeface="Arial"/>
              </a:rPr>
              <a:t> del Executor (</a:t>
            </a:r>
            <a:r>
              <a:rPr sz="900" dirty="0" err="1">
                <a:latin typeface="Arial"/>
              </a:rPr>
              <a:t>pasajeros</a:t>
            </a:r>
            <a:r>
              <a:rPr sz="900" dirty="0">
                <a:latin typeface="Arial"/>
              </a:rPr>
              <a:t>)</a:t>
            </a:r>
          </a:p>
        </p:txBody>
      </p:sp>
      <p:sp>
        <p:nvSpPr>
          <p:cNvPr id="15" name="Rectangle 14"/>
          <p:cNvSpPr/>
          <p:nvPr/>
        </p:nvSpPr>
        <p:spPr>
          <a:xfrm>
            <a:off x="8686800" y="1645920"/>
            <a:ext cx="2560320" cy="11887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60" y="1755648"/>
            <a:ext cx="2286000" cy="640080"/>
          </a:xfrm>
          <a:prstGeom prst="rect">
            <a:avLst/>
          </a:prstGeom>
          <a:noFill/>
        </p:spPr>
        <p:txBody>
          <a:bodyPr wrap="square">
            <a:spAutoFit/>
          </a:bodyPr>
          <a:lstStyle/>
          <a:p>
            <a:pPr algn="ctr"/>
            <a:r>
              <a:rPr sz="2400" b="1">
                <a:solidFill>
                  <a:srgbClr val="1B2A4A"/>
                </a:solidFill>
                <a:latin typeface="Arial"/>
              </a:rPr>
              <a:t>30,088 creditos</a:t>
            </a:r>
          </a:p>
        </p:txBody>
      </p:sp>
      <p:sp>
        <p:nvSpPr>
          <p:cNvPr id="17" name="TextBox 16"/>
          <p:cNvSpPr txBox="1"/>
          <p:nvPr/>
        </p:nvSpPr>
        <p:spPr>
          <a:xfrm>
            <a:off x="8778240" y="2563775"/>
            <a:ext cx="2377440" cy="230832"/>
          </a:xfrm>
          <a:prstGeom prst="rect">
            <a:avLst/>
          </a:prstGeom>
          <a:noFill/>
        </p:spPr>
        <p:txBody>
          <a:bodyPr wrap="square">
            <a:spAutoFit/>
          </a:bodyPr>
          <a:lstStyle/>
          <a:p>
            <a:pPr algn="ctr"/>
            <a:r>
              <a:rPr sz="900" dirty="0">
                <a:latin typeface="Arial"/>
              </a:rPr>
              <a:t>Costo </a:t>
            </a:r>
            <a:r>
              <a:rPr sz="900" dirty="0" err="1">
                <a:latin typeface="Arial"/>
              </a:rPr>
              <a:t>por</a:t>
            </a:r>
            <a:r>
              <a:rPr sz="900" dirty="0">
                <a:latin typeface="Arial"/>
              </a:rPr>
              <a:t> </a:t>
            </a:r>
            <a:r>
              <a:rPr sz="900" dirty="0" err="1">
                <a:latin typeface="Arial"/>
              </a:rPr>
              <a:t>pasajero</a:t>
            </a:r>
            <a:r>
              <a:rPr sz="900" dirty="0">
                <a:latin typeface="Arial"/>
              </a:rPr>
              <a:t> - Executor</a:t>
            </a:r>
          </a:p>
        </p:txBody>
      </p:sp>
      <p:sp>
        <p:nvSpPr>
          <p:cNvPr id="18" name="Rectangle 17"/>
          <p:cNvSpPr/>
          <p:nvPr/>
        </p:nvSpPr>
        <p:spPr>
          <a:xfrm>
            <a:off x="1347952" y="3200399"/>
            <a:ext cx="540757"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02028" y="3255263"/>
            <a:ext cx="486681" cy="230832"/>
          </a:xfrm>
          <a:prstGeom prst="rect">
            <a:avLst/>
          </a:prstGeom>
          <a:noFill/>
        </p:spPr>
        <p:txBody>
          <a:bodyPr wrap="square">
            <a:spAutoFit/>
          </a:bodyPr>
          <a:lstStyle/>
          <a:p>
            <a:pPr algn="l"/>
            <a:r>
              <a:rPr sz="900" b="1">
                <a:solidFill>
                  <a:srgbClr val="FFFFFF"/>
                </a:solidFill>
                <a:latin typeface="Arial"/>
              </a:rPr>
              <a:t>Rank</a:t>
            </a:r>
          </a:p>
        </p:txBody>
      </p:sp>
      <p:sp>
        <p:nvSpPr>
          <p:cNvPr id="20" name="Rectangle 19"/>
          <p:cNvSpPr/>
          <p:nvPr/>
        </p:nvSpPr>
        <p:spPr>
          <a:xfrm>
            <a:off x="1934429" y="3200399"/>
            <a:ext cx="2057400"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80149" y="3255263"/>
            <a:ext cx="2011680" cy="274320"/>
          </a:xfrm>
          <a:prstGeom prst="rect">
            <a:avLst/>
          </a:prstGeom>
          <a:noFill/>
        </p:spPr>
        <p:txBody>
          <a:bodyPr wrap="square">
            <a:spAutoFit/>
          </a:bodyPr>
          <a:lstStyle/>
          <a:p>
            <a:pPr algn="l"/>
            <a:r>
              <a:rPr sz="900" b="1">
                <a:solidFill>
                  <a:srgbClr val="FFFFFF"/>
                </a:solidFill>
                <a:latin typeface="Arial"/>
              </a:rPr>
              <a:t>Nave</a:t>
            </a:r>
          </a:p>
        </p:txBody>
      </p:sp>
      <p:sp>
        <p:nvSpPr>
          <p:cNvPr id="22" name="Rectangle 21"/>
          <p:cNvSpPr/>
          <p:nvPr/>
        </p:nvSpPr>
        <p:spPr>
          <a:xfrm>
            <a:off x="4037549" y="3200399"/>
            <a:ext cx="1783080"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83269" y="3255263"/>
            <a:ext cx="1737360" cy="274320"/>
          </a:xfrm>
          <a:prstGeom prst="rect">
            <a:avLst/>
          </a:prstGeom>
          <a:noFill/>
        </p:spPr>
        <p:txBody>
          <a:bodyPr wrap="square">
            <a:spAutoFit/>
          </a:bodyPr>
          <a:lstStyle/>
          <a:p>
            <a:pPr algn="l"/>
            <a:r>
              <a:rPr sz="900" b="1">
                <a:solidFill>
                  <a:srgbClr val="FFFFFF"/>
                </a:solidFill>
                <a:latin typeface="Arial"/>
              </a:rPr>
              <a:t>Clase</a:t>
            </a:r>
          </a:p>
        </p:txBody>
      </p:sp>
      <p:sp>
        <p:nvSpPr>
          <p:cNvPr id="24" name="Rectangle 23"/>
          <p:cNvSpPr/>
          <p:nvPr/>
        </p:nvSpPr>
        <p:spPr>
          <a:xfrm>
            <a:off x="5866349" y="3200399"/>
            <a:ext cx="960120"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12069" y="3255263"/>
            <a:ext cx="914400" cy="274320"/>
          </a:xfrm>
          <a:prstGeom prst="rect">
            <a:avLst/>
          </a:prstGeom>
          <a:noFill/>
        </p:spPr>
        <p:txBody>
          <a:bodyPr wrap="square">
            <a:spAutoFit/>
          </a:bodyPr>
          <a:lstStyle/>
          <a:p>
            <a:pPr algn="l"/>
            <a:r>
              <a:rPr sz="900" b="1">
                <a:solidFill>
                  <a:srgbClr val="FFFFFF"/>
                </a:solidFill>
                <a:latin typeface="Arial"/>
              </a:rPr>
              <a:t>Pasajeros</a:t>
            </a:r>
          </a:p>
        </p:txBody>
      </p:sp>
      <p:sp>
        <p:nvSpPr>
          <p:cNvPr id="26" name="Rectangle 25"/>
          <p:cNvSpPr/>
          <p:nvPr/>
        </p:nvSpPr>
        <p:spPr>
          <a:xfrm>
            <a:off x="6872189" y="3200399"/>
            <a:ext cx="1143000"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17909" y="3255263"/>
            <a:ext cx="1097280" cy="274320"/>
          </a:xfrm>
          <a:prstGeom prst="rect">
            <a:avLst/>
          </a:prstGeom>
          <a:noFill/>
        </p:spPr>
        <p:txBody>
          <a:bodyPr wrap="square">
            <a:spAutoFit/>
          </a:bodyPr>
          <a:lstStyle/>
          <a:p>
            <a:pPr algn="l"/>
            <a:r>
              <a:rPr sz="900" b="1">
                <a:solidFill>
                  <a:srgbClr val="FFFFFF"/>
                </a:solidFill>
                <a:latin typeface="Arial"/>
              </a:rPr>
              <a:t>Costo (creditos)</a:t>
            </a:r>
          </a:p>
        </p:txBody>
      </p:sp>
      <p:sp>
        <p:nvSpPr>
          <p:cNvPr id="28" name="Rectangle 27"/>
          <p:cNvSpPr/>
          <p:nvPr/>
        </p:nvSpPr>
        <p:spPr>
          <a:xfrm>
            <a:off x="8060909" y="3200399"/>
            <a:ext cx="1325880"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06629" y="3255263"/>
            <a:ext cx="1280160" cy="274320"/>
          </a:xfrm>
          <a:prstGeom prst="rect">
            <a:avLst/>
          </a:prstGeom>
          <a:noFill/>
        </p:spPr>
        <p:txBody>
          <a:bodyPr wrap="square">
            <a:spAutoFit/>
          </a:bodyPr>
          <a:lstStyle/>
          <a:p>
            <a:pPr algn="l"/>
            <a:r>
              <a:rPr sz="900" b="1">
                <a:solidFill>
                  <a:srgbClr val="FFFFFF"/>
                </a:solidFill>
                <a:latin typeface="Arial"/>
              </a:rPr>
              <a:t>Costo por Pasajero</a:t>
            </a:r>
          </a:p>
        </p:txBody>
      </p:sp>
      <p:sp>
        <p:nvSpPr>
          <p:cNvPr id="30" name="Rectangle 29"/>
          <p:cNvSpPr/>
          <p:nvPr/>
        </p:nvSpPr>
        <p:spPr>
          <a:xfrm>
            <a:off x="9432509" y="3200399"/>
            <a:ext cx="1051560" cy="3474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78229" y="3255263"/>
            <a:ext cx="1005840" cy="274320"/>
          </a:xfrm>
          <a:prstGeom prst="rect">
            <a:avLst/>
          </a:prstGeom>
          <a:noFill/>
        </p:spPr>
        <p:txBody>
          <a:bodyPr wrap="square">
            <a:spAutoFit/>
          </a:bodyPr>
          <a:lstStyle/>
          <a:p>
            <a:pPr algn="l"/>
            <a:r>
              <a:rPr sz="900" b="1">
                <a:solidFill>
                  <a:srgbClr val="FFFFFF"/>
                </a:solidFill>
                <a:latin typeface="Arial"/>
              </a:rPr>
              <a:t>Veredicto</a:t>
            </a:r>
          </a:p>
        </p:txBody>
      </p:sp>
      <p:sp>
        <p:nvSpPr>
          <p:cNvPr id="32" name="Rectangle 31"/>
          <p:cNvSpPr/>
          <p:nvPr/>
        </p:nvSpPr>
        <p:spPr>
          <a:xfrm>
            <a:off x="1347952" y="3547871"/>
            <a:ext cx="540757"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402028" y="3621023"/>
            <a:ext cx="486681" cy="230832"/>
          </a:xfrm>
          <a:prstGeom prst="rect">
            <a:avLst/>
          </a:prstGeom>
          <a:noFill/>
        </p:spPr>
        <p:txBody>
          <a:bodyPr wrap="square">
            <a:spAutoFit/>
          </a:bodyPr>
          <a:lstStyle/>
          <a:p>
            <a:pPr algn="l"/>
            <a:r>
              <a:rPr sz="900" b="1">
                <a:solidFill>
                  <a:srgbClr val="1B2A4A"/>
                </a:solidFill>
                <a:latin typeface="Arial"/>
              </a:rPr>
              <a:t>#1</a:t>
            </a:r>
          </a:p>
        </p:txBody>
      </p:sp>
      <p:sp>
        <p:nvSpPr>
          <p:cNvPr id="34" name="Rectangle 33"/>
          <p:cNvSpPr/>
          <p:nvPr/>
        </p:nvSpPr>
        <p:spPr>
          <a:xfrm>
            <a:off x="1934429" y="3547871"/>
            <a:ext cx="205740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980149" y="3621023"/>
            <a:ext cx="2011680" cy="320040"/>
          </a:xfrm>
          <a:prstGeom prst="rect">
            <a:avLst/>
          </a:prstGeom>
          <a:noFill/>
        </p:spPr>
        <p:txBody>
          <a:bodyPr wrap="square">
            <a:spAutoFit/>
          </a:bodyPr>
          <a:lstStyle/>
          <a:p>
            <a:pPr algn="l"/>
            <a:r>
              <a:rPr sz="900" b="1">
                <a:solidFill>
                  <a:srgbClr val="1B2A4A"/>
                </a:solidFill>
                <a:latin typeface="Arial"/>
              </a:rPr>
              <a:t>Halcon Milenario</a:t>
            </a:r>
          </a:p>
        </p:txBody>
      </p:sp>
      <p:sp>
        <p:nvSpPr>
          <p:cNvPr id="36" name="Rectangle 35"/>
          <p:cNvSpPr/>
          <p:nvPr/>
        </p:nvSpPr>
        <p:spPr>
          <a:xfrm>
            <a:off x="4037549" y="3547871"/>
            <a:ext cx="178308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83269" y="3621023"/>
            <a:ext cx="1737360" cy="320040"/>
          </a:xfrm>
          <a:prstGeom prst="rect">
            <a:avLst/>
          </a:prstGeom>
          <a:noFill/>
        </p:spPr>
        <p:txBody>
          <a:bodyPr wrap="square">
            <a:spAutoFit/>
          </a:bodyPr>
          <a:lstStyle/>
          <a:p>
            <a:pPr algn="l"/>
            <a:r>
              <a:rPr sz="900" b="1">
                <a:solidFill>
                  <a:srgbClr val="1B2A4A"/>
                </a:solidFill>
                <a:latin typeface="Arial"/>
              </a:rPr>
              <a:t>Carguero Ligero</a:t>
            </a:r>
          </a:p>
        </p:txBody>
      </p:sp>
      <p:sp>
        <p:nvSpPr>
          <p:cNvPr id="38" name="Rectangle 37"/>
          <p:cNvSpPr/>
          <p:nvPr/>
        </p:nvSpPr>
        <p:spPr>
          <a:xfrm>
            <a:off x="5866349" y="3547871"/>
            <a:ext cx="96012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12069" y="3621023"/>
            <a:ext cx="914400" cy="320040"/>
          </a:xfrm>
          <a:prstGeom prst="rect">
            <a:avLst/>
          </a:prstGeom>
          <a:noFill/>
        </p:spPr>
        <p:txBody>
          <a:bodyPr wrap="square">
            <a:spAutoFit/>
          </a:bodyPr>
          <a:lstStyle/>
          <a:p>
            <a:pPr algn="l"/>
            <a:r>
              <a:rPr sz="900" b="1">
                <a:solidFill>
                  <a:srgbClr val="1B2A4A"/>
                </a:solidFill>
                <a:latin typeface="Arial"/>
              </a:rPr>
              <a:t>6</a:t>
            </a:r>
          </a:p>
        </p:txBody>
      </p:sp>
      <p:sp>
        <p:nvSpPr>
          <p:cNvPr id="40" name="Rectangle 39"/>
          <p:cNvSpPr/>
          <p:nvPr/>
        </p:nvSpPr>
        <p:spPr>
          <a:xfrm>
            <a:off x="6872189" y="3547871"/>
            <a:ext cx="114300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917909" y="3621023"/>
            <a:ext cx="1097280" cy="320040"/>
          </a:xfrm>
          <a:prstGeom prst="rect">
            <a:avLst/>
          </a:prstGeom>
          <a:noFill/>
        </p:spPr>
        <p:txBody>
          <a:bodyPr wrap="square">
            <a:spAutoFit/>
          </a:bodyPr>
          <a:lstStyle/>
          <a:p>
            <a:pPr algn="l"/>
            <a:r>
              <a:rPr sz="900" b="1">
                <a:solidFill>
                  <a:srgbClr val="1B2A4A"/>
                </a:solidFill>
                <a:latin typeface="Arial"/>
              </a:rPr>
              <a:t>100,000</a:t>
            </a:r>
          </a:p>
        </p:txBody>
      </p:sp>
      <p:sp>
        <p:nvSpPr>
          <p:cNvPr id="42" name="Rectangle 41"/>
          <p:cNvSpPr/>
          <p:nvPr/>
        </p:nvSpPr>
        <p:spPr>
          <a:xfrm>
            <a:off x="8060909" y="3547871"/>
            <a:ext cx="132588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06629" y="3621023"/>
            <a:ext cx="1280160" cy="320040"/>
          </a:xfrm>
          <a:prstGeom prst="rect">
            <a:avLst/>
          </a:prstGeom>
          <a:noFill/>
        </p:spPr>
        <p:txBody>
          <a:bodyPr wrap="square">
            <a:spAutoFit/>
          </a:bodyPr>
          <a:lstStyle/>
          <a:p>
            <a:pPr algn="l"/>
            <a:r>
              <a:rPr sz="900" b="1">
                <a:solidFill>
                  <a:srgbClr val="1B2A4A"/>
                </a:solidFill>
                <a:latin typeface="Arial"/>
              </a:rPr>
              <a:t>16,667</a:t>
            </a:r>
          </a:p>
        </p:txBody>
      </p:sp>
      <p:sp>
        <p:nvSpPr>
          <p:cNvPr id="44" name="Rectangle 43"/>
          <p:cNvSpPr/>
          <p:nvPr/>
        </p:nvSpPr>
        <p:spPr>
          <a:xfrm>
            <a:off x="9432509" y="3547871"/>
            <a:ext cx="1051560"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78229" y="3621023"/>
            <a:ext cx="1005840" cy="320040"/>
          </a:xfrm>
          <a:prstGeom prst="rect">
            <a:avLst/>
          </a:prstGeom>
          <a:noFill/>
        </p:spPr>
        <p:txBody>
          <a:bodyPr wrap="square">
            <a:spAutoFit/>
          </a:bodyPr>
          <a:lstStyle/>
          <a:p>
            <a:pPr algn="l"/>
            <a:r>
              <a:rPr sz="900" b="1">
                <a:solidFill>
                  <a:srgbClr val="FFFFFF"/>
                </a:solidFill>
                <a:latin typeface="Arial"/>
              </a:rPr>
              <a:t>Mejor Valor</a:t>
            </a:r>
          </a:p>
        </p:txBody>
      </p:sp>
      <p:sp>
        <p:nvSpPr>
          <p:cNvPr id="46" name="Rectangle 45"/>
          <p:cNvSpPr/>
          <p:nvPr/>
        </p:nvSpPr>
        <p:spPr>
          <a:xfrm>
            <a:off x="1347952" y="4023359"/>
            <a:ext cx="540757"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402028" y="4096511"/>
            <a:ext cx="486681" cy="230832"/>
          </a:xfrm>
          <a:prstGeom prst="rect">
            <a:avLst/>
          </a:prstGeom>
          <a:noFill/>
        </p:spPr>
        <p:txBody>
          <a:bodyPr wrap="square">
            <a:spAutoFit/>
          </a:bodyPr>
          <a:lstStyle/>
          <a:p>
            <a:pPr algn="l"/>
            <a:r>
              <a:rPr sz="900" b="0">
                <a:solidFill>
                  <a:srgbClr val="1B2A4A"/>
                </a:solidFill>
                <a:latin typeface="Arial"/>
              </a:rPr>
              <a:t>#2</a:t>
            </a:r>
          </a:p>
        </p:txBody>
      </p:sp>
      <p:sp>
        <p:nvSpPr>
          <p:cNvPr id="48" name="Rectangle 47"/>
          <p:cNvSpPr/>
          <p:nvPr/>
        </p:nvSpPr>
        <p:spPr>
          <a:xfrm>
            <a:off x="1934429" y="4023359"/>
            <a:ext cx="20574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980149" y="4096511"/>
            <a:ext cx="2011680" cy="320040"/>
          </a:xfrm>
          <a:prstGeom prst="rect">
            <a:avLst/>
          </a:prstGeom>
          <a:noFill/>
        </p:spPr>
        <p:txBody>
          <a:bodyPr wrap="square">
            <a:spAutoFit/>
          </a:bodyPr>
          <a:lstStyle/>
          <a:p>
            <a:pPr algn="l"/>
            <a:r>
              <a:rPr sz="900" b="0">
                <a:solidFill>
                  <a:srgbClr val="1B2A4A"/>
                </a:solidFill>
                <a:latin typeface="Arial"/>
              </a:rPr>
              <a:t>Executor</a:t>
            </a:r>
          </a:p>
        </p:txBody>
      </p:sp>
      <p:sp>
        <p:nvSpPr>
          <p:cNvPr id="50" name="Rectangle 49"/>
          <p:cNvSpPr/>
          <p:nvPr/>
        </p:nvSpPr>
        <p:spPr>
          <a:xfrm>
            <a:off x="4037549" y="4023359"/>
            <a:ext cx="17830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083269" y="4096511"/>
            <a:ext cx="1737360" cy="320040"/>
          </a:xfrm>
          <a:prstGeom prst="rect">
            <a:avLst/>
          </a:prstGeom>
          <a:noFill/>
        </p:spPr>
        <p:txBody>
          <a:bodyPr wrap="square">
            <a:spAutoFit/>
          </a:bodyPr>
          <a:lstStyle/>
          <a:p>
            <a:pPr algn="l"/>
            <a:r>
              <a:rPr sz="900" b="0">
                <a:solidFill>
                  <a:srgbClr val="1B2A4A"/>
                </a:solidFill>
                <a:latin typeface="Arial"/>
              </a:rPr>
              <a:t>Destructor Estelar</a:t>
            </a:r>
          </a:p>
        </p:txBody>
      </p:sp>
      <p:sp>
        <p:nvSpPr>
          <p:cNvPr id="52" name="Rectangle 51"/>
          <p:cNvSpPr/>
          <p:nvPr/>
        </p:nvSpPr>
        <p:spPr>
          <a:xfrm>
            <a:off x="5866349" y="4023359"/>
            <a:ext cx="96012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12069" y="4096511"/>
            <a:ext cx="914400" cy="320040"/>
          </a:xfrm>
          <a:prstGeom prst="rect">
            <a:avLst/>
          </a:prstGeom>
          <a:noFill/>
        </p:spPr>
        <p:txBody>
          <a:bodyPr wrap="square">
            <a:spAutoFit/>
          </a:bodyPr>
          <a:lstStyle/>
          <a:p>
            <a:pPr algn="l"/>
            <a:r>
              <a:rPr sz="900" b="0">
                <a:solidFill>
                  <a:srgbClr val="1B2A4A"/>
                </a:solidFill>
                <a:latin typeface="Arial"/>
              </a:rPr>
              <a:t>38,000</a:t>
            </a:r>
          </a:p>
        </p:txBody>
      </p:sp>
      <p:sp>
        <p:nvSpPr>
          <p:cNvPr id="54" name="Rectangle 53"/>
          <p:cNvSpPr/>
          <p:nvPr/>
        </p:nvSpPr>
        <p:spPr>
          <a:xfrm>
            <a:off x="6872189" y="4023359"/>
            <a:ext cx="11430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917909" y="4096511"/>
            <a:ext cx="1097280" cy="320040"/>
          </a:xfrm>
          <a:prstGeom prst="rect">
            <a:avLst/>
          </a:prstGeom>
          <a:noFill/>
        </p:spPr>
        <p:txBody>
          <a:bodyPr wrap="square">
            <a:spAutoFit/>
          </a:bodyPr>
          <a:lstStyle/>
          <a:p>
            <a:pPr algn="l"/>
            <a:r>
              <a:rPr sz="900" b="0">
                <a:solidFill>
                  <a:srgbClr val="1B2A4A"/>
                </a:solidFill>
                <a:latin typeface="Arial"/>
              </a:rPr>
              <a:t>1,143,350,000</a:t>
            </a:r>
          </a:p>
        </p:txBody>
      </p:sp>
      <p:sp>
        <p:nvSpPr>
          <p:cNvPr id="56" name="Rectangle 55"/>
          <p:cNvSpPr/>
          <p:nvPr/>
        </p:nvSpPr>
        <p:spPr>
          <a:xfrm>
            <a:off x="8060909" y="4023359"/>
            <a:ext cx="13258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106629" y="4096511"/>
            <a:ext cx="1280160" cy="320040"/>
          </a:xfrm>
          <a:prstGeom prst="rect">
            <a:avLst/>
          </a:prstGeom>
          <a:noFill/>
        </p:spPr>
        <p:txBody>
          <a:bodyPr wrap="square">
            <a:spAutoFit/>
          </a:bodyPr>
          <a:lstStyle/>
          <a:p>
            <a:pPr algn="l"/>
            <a:r>
              <a:rPr sz="900" b="0">
                <a:solidFill>
                  <a:srgbClr val="1B2A4A"/>
                </a:solidFill>
                <a:latin typeface="Arial"/>
              </a:rPr>
              <a:t>30,088</a:t>
            </a:r>
          </a:p>
        </p:txBody>
      </p:sp>
      <p:sp>
        <p:nvSpPr>
          <p:cNvPr id="58" name="Rectangle 57"/>
          <p:cNvSpPr/>
          <p:nvPr/>
        </p:nvSpPr>
        <p:spPr>
          <a:xfrm>
            <a:off x="9432509" y="4023359"/>
            <a:ext cx="10515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478229" y="4096511"/>
            <a:ext cx="1005840" cy="320040"/>
          </a:xfrm>
          <a:prstGeom prst="rect">
            <a:avLst/>
          </a:prstGeom>
          <a:noFill/>
        </p:spPr>
        <p:txBody>
          <a:bodyPr wrap="square">
            <a:spAutoFit/>
          </a:bodyPr>
          <a:lstStyle/>
          <a:p>
            <a:pPr algn="l"/>
            <a:r>
              <a:rPr sz="900" b="0">
                <a:solidFill>
                  <a:srgbClr val="1B2A4A"/>
                </a:solidFill>
                <a:latin typeface="Arial"/>
              </a:rPr>
              <a:t>Max Capacidad</a:t>
            </a:r>
          </a:p>
        </p:txBody>
      </p:sp>
      <p:sp>
        <p:nvSpPr>
          <p:cNvPr id="60" name="Rectangle 59"/>
          <p:cNvSpPr/>
          <p:nvPr/>
        </p:nvSpPr>
        <p:spPr>
          <a:xfrm>
            <a:off x="1347952" y="4498847"/>
            <a:ext cx="540757"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402028" y="4571999"/>
            <a:ext cx="486681" cy="230832"/>
          </a:xfrm>
          <a:prstGeom prst="rect">
            <a:avLst/>
          </a:prstGeom>
          <a:noFill/>
        </p:spPr>
        <p:txBody>
          <a:bodyPr wrap="square">
            <a:spAutoFit/>
          </a:bodyPr>
          <a:lstStyle/>
          <a:p>
            <a:pPr algn="l"/>
            <a:r>
              <a:rPr sz="900" b="0">
                <a:solidFill>
                  <a:srgbClr val="1B2A4A"/>
                </a:solidFill>
                <a:latin typeface="Arial"/>
              </a:rPr>
              <a:t>#3</a:t>
            </a:r>
          </a:p>
        </p:txBody>
      </p:sp>
      <p:sp>
        <p:nvSpPr>
          <p:cNvPr id="62" name="Rectangle 61"/>
          <p:cNvSpPr/>
          <p:nvPr/>
        </p:nvSpPr>
        <p:spPr>
          <a:xfrm>
            <a:off x="1934429" y="4498847"/>
            <a:ext cx="205740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980149" y="4571999"/>
            <a:ext cx="2011680" cy="320040"/>
          </a:xfrm>
          <a:prstGeom prst="rect">
            <a:avLst/>
          </a:prstGeom>
          <a:noFill/>
        </p:spPr>
        <p:txBody>
          <a:bodyPr wrap="square">
            <a:spAutoFit/>
          </a:bodyPr>
          <a:lstStyle/>
          <a:p>
            <a:pPr algn="l"/>
            <a:r>
              <a:rPr sz="900" b="0">
                <a:solidFill>
                  <a:srgbClr val="1B2A4A"/>
                </a:solidFill>
                <a:latin typeface="Arial"/>
              </a:rPr>
              <a:t>Transporte Rebelde</a:t>
            </a:r>
          </a:p>
        </p:txBody>
      </p:sp>
      <p:sp>
        <p:nvSpPr>
          <p:cNvPr id="64" name="Rectangle 63"/>
          <p:cNvSpPr/>
          <p:nvPr/>
        </p:nvSpPr>
        <p:spPr>
          <a:xfrm>
            <a:off x="4037549" y="4498847"/>
            <a:ext cx="178308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083269" y="4571999"/>
            <a:ext cx="1737360" cy="320040"/>
          </a:xfrm>
          <a:prstGeom prst="rect">
            <a:avLst/>
          </a:prstGeom>
          <a:noFill/>
        </p:spPr>
        <p:txBody>
          <a:bodyPr wrap="square">
            <a:spAutoFit/>
          </a:bodyPr>
          <a:lstStyle/>
          <a:p>
            <a:pPr algn="l"/>
            <a:r>
              <a:rPr sz="900" b="0">
                <a:solidFill>
                  <a:srgbClr val="1B2A4A"/>
                </a:solidFill>
                <a:latin typeface="Arial"/>
              </a:rPr>
              <a:t>Transporte Medio</a:t>
            </a:r>
          </a:p>
        </p:txBody>
      </p:sp>
      <p:sp>
        <p:nvSpPr>
          <p:cNvPr id="66" name="Rectangle 65"/>
          <p:cNvSpPr/>
          <p:nvPr/>
        </p:nvSpPr>
        <p:spPr>
          <a:xfrm>
            <a:off x="5866349" y="4498847"/>
            <a:ext cx="96012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912069" y="4571999"/>
            <a:ext cx="914400" cy="320040"/>
          </a:xfrm>
          <a:prstGeom prst="rect">
            <a:avLst/>
          </a:prstGeom>
          <a:noFill/>
        </p:spPr>
        <p:txBody>
          <a:bodyPr wrap="square">
            <a:spAutoFit/>
          </a:bodyPr>
          <a:lstStyle/>
          <a:p>
            <a:pPr algn="l"/>
            <a:r>
              <a:rPr sz="900" b="0">
                <a:solidFill>
                  <a:srgbClr val="1B2A4A"/>
                </a:solidFill>
                <a:latin typeface="Arial"/>
              </a:rPr>
              <a:t>90</a:t>
            </a:r>
          </a:p>
        </p:txBody>
      </p:sp>
      <p:sp>
        <p:nvSpPr>
          <p:cNvPr id="68" name="Rectangle 67"/>
          <p:cNvSpPr/>
          <p:nvPr/>
        </p:nvSpPr>
        <p:spPr>
          <a:xfrm>
            <a:off x="6872189" y="4498847"/>
            <a:ext cx="114300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917909" y="4571999"/>
            <a:ext cx="1097280" cy="320040"/>
          </a:xfrm>
          <a:prstGeom prst="rect">
            <a:avLst/>
          </a:prstGeom>
          <a:noFill/>
        </p:spPr>
        <p:txBody>
          <a:bodyPr wrap="square">
            <a:spAutoFit/>
          </a:bodyPr>
          <a:lstStyle/>
          <a:p>
            <a:pPr algn="l"/>
            <a:r>
              <a:rPr sz="900" b="0">
                <a:solidFill>
                  <a:srgbClr val="1B2A4A"/>
                </a:solidFill>
                <a:latin typeface="Arial"/>
              </a:rPr>
              <a:t>3,000,000</a:t>
            </a:r>
          </a:p>
        </p:txBody>
      </p:sp>
      <p:sp>
        <p:nvSpPr>
          <p:cNvPr id="70" name="Rectangle 69"/>
          <p:cNvSpPr/>
          <p:nvPr/>
        </p:nvSpPr>
        <p:spPr>
          <a:xfrm>
            <a:off x="8060909" y="4498847"/>
            <a:ext cx="132588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106629" y="4571999"/>
            <a:ext cx="1280160" cy="320040"/>
          </a:xfrm>
          <a:prstGeom prst="rect">
            <a:avLst/>
          </a:prstGeom>
          <a:noFill/>
        </p:spPr>
        <p:txBody>
          <a:bodyPr wrap="square">
            <a:spAutoFit/>
          </a:bodyPr>
          <a:lstStyle/>
          <a:p>
            <a:pPr algn="l"/>
            <a:r>
              <a:rPr sz="900" b="0">
                <a:solidFill>
                  <a:srgbClr val="1B2A4A"/>
                </a:solidFill>
                <a:latin typeface="Arial"/>
              </a:rPr>
              <a:t>33,333</a:t>
            </a:r>
          </a:p>
        </p:txBody>
      </p:sp>
      <p:sp>
        <p:nvSpPr>
          <p:cNvPr id="72" name="Rectangle 71"/>
          <p:cNvSpPr/>
          <p:nvPr/>
        </p:nvSpPr>
        <p:spPr>
          <a:xfrm>
            <a:off x="9432509" y="4498847"/>
            <a:ext cx="1051560" cy="438912"/>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478229" y="4571999"/>
            <a:ext cx="1005840" cy="230832"/>
          </a:xfrm>
          <a:prstGeom prst="rect">
            <a:avLst/>
          </a:prstGeom>
          <a:noFill/>
        </p:spPr>
        <p:txBody>
          <a:bodyPr wrap="square">
            <a:spAutoFit/>
          </a:bodyPr>
          <a:lstStyle/>
          <a:p>
            <a:pPr algn="l"/>
            <a:r>
              <a:rPr sz="900" b="0" dirty="0" err="1">
                <a:solidFill>
                  <a:srgbClr val="1B2A4A"/>
                </a:solidFill>
                <a:latin typeface="Arial"/>
              </a:rPr>
              <a:t>Opci</a:t>
            </a:r>
            <a:r>
              <a:rPr lang="es-MX" sz="900" b="0" dirty="0" err="1">
                <a:solidFill>
                  <a:srgbClr val="1B2A4A"/>
                </a:solidFill>
                <a:latin typeface="Arial"/>
              </a:rPr>
              <a:t>ó</a:t>
            </a:r>
            <a:r>
              <a:rPr sz="900" b="0" dirty="0">
                <a:solidFill>
                  <a:srgbClr val="1B2A4A"/>
                </a:solidFill>
                <a:latin typeface="Arial"/>
              </a:rPr>
              <a:t>n Media</a:t>
            </a:r>
          </a:p>
        </p:txBody>
      </p:sp>
      <p:sp>
        <p:nvSpPr>
          <p:cNvPr id="74" name="Rectangle 73"/>
          <p:cNvSpPr/>
          <p:nvPr/>
        </p:nvSpPr>
        <p:spPr>
          <a:xfrm>
            <a:off x="457200" y="5486400"/>
            <a:ext cx="11247120" cy="822960"/>
          </a:xfrm>
          <a:prstGeom prst="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94360" y="5577840"/>
            <a:ext cx="10972800" cy="640080"/>
          </a:xfrm>
          <a:prstGeom prst="rect">
            <a:avLst/>
          </a:prstGeom>
          <a:noFill/>
        </p:spPr>
        <p:txBody>
          <a:bodyPr wrap="square">
            <a:spAutoFit/>
          </a:bodyPr>
          <a:lstStyle/>
          <a:p>
            <a:pPr algn="l"/>
            <a:r>
              <a:rPr sz="900" b="0">
                <a:solidFill>
                  <a:srgbClr val="1B2A4A"/>
                </a:solidFill>
                <a:latin typeface="Arial"/>
              </a:rPr>
              <a:t>RECOMENDACION: Para misiones con presupuesto limitado, priorizar el Halcon Milenario (el costo por pasajero mas bajo de toda la flota). Para evacuacion masiva, el Executor es la unica nave con capacidad real, pero su precio equivale al 99.97% del presupuesto total disponible en la flota. No es sostenible depender de una sola nave.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6400800" cy="320040"/>
          </a:xfrm>
          <a:prstGeom prst="rect">
            <a:avLst/>
          </a:prstGeom>
          <a:noFill/>
        </p:spPr>
        <p:txBody>
          <a:bodyPr wrap="square">
            <a:spAutoFit/>
          </a:bodyPr>
          <a:lstStyle/>
          <a:p>
            <a:pPr algn="l"/>
            <a:r>
              <a:rPr sz="900" b="1">
                <a:solidFill>
                  <a:srgbClr val="C9A84C"/>
                </a:solidFill>
                <a:latin typeface="Arial"/>
              </a:rPr>
              <a:t>P2 | ANALISIS DE TALENTO</a:t>
            </a:r>
          </a:p>
        </p:txBody>
      </p:sp>
      <p:sp>
        <p:nvSpPr>
          <p:cNvPr id="4" name="TextBox 3"/>
          <p:cNvSpPr txBox="1"/>
          <p:nvPr/>
        </p:nvSpPr>
        <p:spPr>
          <a:xfrm>
            <a:off x="457200" y="502920"/>
            <a:ext cx="11247120" cy="914400"/>
          </a:xfrm>
          <a:prstGeom prst="rect">
            <a:avLst/>
          </a:prstGeom>
          <a:noFill/>
        </p:spPr>
        <p:txBody>
          <a:bodyPr wrap="square">
            <a:spAutoFit/>
          </a:bodyPr>
          <a:lstStyle/>
          <a:p>
            <a:pPr algn="l"/>
            <a:r>
              <a:rPr sz="1800" b="1">
                <a:solidFill>
                  <a:srgbClr val="1B2A4A"/>
                </a:solidFill>
                <a:latin typeface="Arial"/>
              </a:rPr>
              <a:t>Tatooine, Ryloth y Naboo producen una tasa de pilotos del 50%, el doble del promedio galactico.
Los Humanos dominan el cuerpo de pilotos con el 78% de todos los certificados.</a:t>
            </a:r>
          </a:p>
        </p:txBody>
      </p:sp>
      <p:cxnSp>
        <p:nvCxnSpPr>
          <p:cNvPr id="5" name="Connector 4"/>
          <p:cNvCxnSpPr/>
          <p:nvPr/>
        </p:nvCxnSpPr>
        <p:spPr>
          <a:xfrm>
            <a:off x="457200" y="1463040"/>
            <a:ext cx="11274552"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645920"/>
            <a:ext cx="2560320" cy="11887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755648"/>
            <a:ext cx="2286000" cy="640080"/>
          </a:xfrm>
          <a:prstGeom prst="rect">
            <a:avLst/>
          </a:prstGeom>
          <a:noFill/>
        </p:spPr>
        <p:txBody>
          <a:bodyPr wrap="square">
            <a:spAutoFit/>
          </a:bodyPr>
          <a:lstStyle/>
          <a:p>
            <a:pPr algn="ctr"/>
            <a:r>
              <a:rPr sz="2400" b="1">
                <a:solidFill>
                  <a:srgbClr val="1B2A4A"/>
                </a:solidFill>
                <a:latin typeface="Arial"/>
              </a:rPr>
              <a:t>96</a:t>
            </a:r>
          </a:p>
        </p:txBody>
      </p:sp>
      <p:sp>
        <p:nvSpPr>
          <p:cNvPr id="8" name="TextBox 7"/>
          <p:cNvSpPr txBox="1"/>
          <p:nvPr/>
        </p:nvSpPr>
        <p:spPr>
          <a:xfrm>
            <a:off x="548640" y="2377440"/>
            <a:ext cx="2377440" cy="230832"/>
          </a:xfrm>
          <a:prstGeom prst="rect">
            <a:avLst/>
          </a:prstGeom>
          <a:noFill/>
        </p:spPr>
        <p:txBody>
          <a:bodyPr wrap="square">
            <a:spAutoFit/>
          </a:bodyPr>
          <a:lstStyle/>
          <a:p>
            <a:pPr algn="ctr"/>
            <a:r>
              <a:rPr sz="900" b="0">
                <a:latin typeface="Arial"/>
              </a:rPr>
              <a:t>Total personajes analizados</a:t>
            </a:r>
          </a:p>
        </p:txBody>
      </p:sp>
      <p:sp>
        <p:nvSpPr>
          <p:cNvPr id="9" name="Rectangle 8"/>
          <p:cNvSpPr/>
          <p:nvPr/>
        </p:nvSpPr>
        <p:spPr>
          <a:xfrm>
            <a:off x="3200400" y="1645920"/>
            <a:ext cx="2560320" cy="1188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755648"/>
            <a:ext cx="2286000" cy="640080"/>
          </a:xfrm>
          <a:prstGeom prst="rect">
            <a:avLst/>
          </a:prstGeom>
          <a:noFill/>
        </p:spPr>
        <p:txBody>
          <a:bodyPr wrap="square">
            <a:spAutoFit/>
          </a:bodyPr>
          <a:lstStyle/>
          <a:p>
            <a:pPr algn="ctr"/>
            <a:r>
              <a:rPr sz="2400" b="1">
                <a:solidFill>
                  <a:srgbClr val="FFFFFF"/>
                </a:solidFill>
                <a:latin typeface="Arial"/>
              </a:rPr>
              <a:t>18</a:t>
            </a:r>
          </a:p>
        </p:txBody>
      </p:sp>
      <p:sp>
        <p:nvSpPr>
          <p:cNvPr id="11" name="TextBox 10"/>
          <p:cNvSpPr txBox="1"/>
          <p:nvPr/>
        </p:nvSpPr>
        <p:spPr>
          <a:xfrm>
            <a:off x="3291840" y="2377440"/>
            <a:ext cx="2377440" cy="230832"/>
          </a:xfrm>
          <a:prstGeom prst="rect">
            <a:avLst/>
          </a:prstGeom>
          <a:noFill/>
        </p:spPr>
        <p:txBody>
          <a:bodyPr wrap="square">
            <a:spAutoFit/>
          </a:bodyPr>
          <a:lstStyle/>
          <a:p>
            <a:pPr algn="ctr"/>
            <a:r>
              <a:rPr sz="900" b="0">
                <a:latin typeface="Arial"/>
              </a:rPr>
              <a:t>Pilotos certificados identificados</a:t>
            </a:r>
          </a:p>
        </p:txBody>
      </p:sp>
      <p:sp>
        <p:nvSpPr>
          <p:cNvPr id="12" name="Rectangle 11"/>
          <p:cNvSpPr/>
          <p:nvPr/>
        </p:nvSpPr>
        <p:spPr>
          <a:xfrm>
            <a:off x="5943600" y="1645920"/>
            <a:ext cx="2560320" cy="11887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60" y="1755648"/>
            <a:ext cx="2286000" cy="640080"/>
          </a:xfrm>
          <a:prstGeom prst="rect">
            <a:avLst/>
          </a:prstGeom>
          <a:noFill/>
        </p:spPr>
        <p:txBody>
          <a:bodyPr wrap="square">
            <a:spAutoFit/>
          </a:bodyPr>
          <a:lstStyle/>
          <a:p>
            <a:pPr algn="ctr"/>
            <a:r>
              <a:rPr sz="2400" b="1">
                <a:solidFill>
                  <a:srgbClr val="1B2A4A"/>
                </a:solidFill>
                <a:latin typeface="Arial"/>
              </a:rPr>
              <a:t>18.8%</a:t>
            </a:r>
          </a:p>
        </p:txBody>
      </p:sp>
      <p:sp>
        <p:nvSpPr>
          <p:cNvPr id="14" name="TextBox 13"/>
          <p:cNvSpPr txBox="1"/>
          <p:nvPr/>
        </p:nvSpPr>
        <p:spPr>
          <a:xfrm>
            <a:off x="6035040" y="2377440"/>
            <a:ext cx="2377440" cy="230832"/>
          </a:xfrm>
          <a:prstGeom prst="rect">
            <a:avLst/>
          </a:prstGeom>
          <a:noFill/>
        </p:spPr>
        <p:txBody>
          <a:bodyPr wrap="square">
            <a:spAutoFit/>
          </a:bodyPr>
          <a:lstStyle/>
          <a:p>
            <a:pPr algn="ctr"/>
            <a:r>
              <a:rPr sz="900" b="0">
                <a:latin typeface="Arial"/>
              </a:rPr>
              <a:t>1 de cada 5 personajes es piloto</a:t>
            </a:r>
          </a:p>
        </p:txBody>
      </p:sp>
      <p:sp>
        <p:nvSpPr>
          <p:cNvPr id="15" name="Rectangle 14"/>
          <p:cNvSpPr/>
          <p:nvPr/>
        </p:nvSpPr>
        <p:spPr>
          <a:xfrm>
            <a:off x="8686800" y="1645920"/>
            <a:ext cx="2560320"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60" y="1755648"/>
            <a:ext cx="2286000" cy="640080"/>
          </a:xfrm>
          <a:prstGeom prst="rect">
            <a:avLst/>
          </a:prstGeom>
          <a:noFill/>
        </p:spPr>
        <p:txBody>
          <a:bodyPr wrap="square">
            <a:spAutoFit/>
          </a:bodyPr>
          <a:lstStyle/>
          <a:p>
            <a:pPr algn="ctr"/>
            <a:r>
              <a:rPr sz="2400" b="1">
                <a:solidFill>
                  <a:srgbClr val="C9A84C"/>
                </a:solidFill>
                <a:latin typeface="Arial"/>
              </a:rPr>
              <a:t>100%</a:t>
            </a:r>
          </a:p>
        </p:txBody>
      </p:sp>
      <p:sp>
        <p:nvSpPr>
          <p:cNvPr id="17" name="TextBox 16"/>
          <p:cNvSpPr txBox="1"/>
          <p:nvPr/>
        </p:nvSpPr>
        <p:spPr>
          <a:xfrm>
            <a:off x="8778240" y="2377440"/>
            <a:ext cx="2377440" cy="230832"/>
          </a:xfrm>
          <a:prstGeom prst="rect">
            <a:avLst/>
          </a:prstGeom>
          <a:noFill/>
        </p:spPr>
        <p:txBody>
          <a:bodyPr wrap="square">
            <a:spAutoFit/>
          </a:bodyPr>
          <a:lstStyle/>
          <a:p>
            <a:pPr algn="ctr"/>
            <a:r>
              <a:rPr sz="900" b="0">
                <a:solidFill>
                  <a:schemeClr val="bg1">
                    <a:lumMod val="75000"/>
                  </a:schemeClr>
                </a:solidFill>
                <a:latin typeface="Arial"/>
              </a:rPr>
              <a:t>Fest y Lothal: sus 2 personajes son pilotos</a:t>
            </a:r>
          </a:p>
        </p:txBody>
      </p:sp>
      <p:sp>
        <p:nvSpPr>
          <p:cNvPr id="18" name="TextBox 17"/>
          <p:cNvSpPr txBox="1"/>
          <p:nvPr/>
        </p:nvSpPr>
        <p:spPr>
          <a:xfrm>
            <a:off x="457200" y="2971800"/>
            <a:ext cx="5486400" cy="274320"/>
          </a:xfrm>
          <a:prstGeom prst="rect">
            <a:avLst/>
          </a:prstGeom>
          <a:noFill/>
        </p:spPr>
        <p:txBody>
          <a:bodyPr wrap="square">
            <a:spAutoFit/>
          </a:bodyPr>
          <a:lstStyle/>
          <a:p>
            <a:pPr algn="l"/>
            <a:r>
              <a:rPr sz="900" b="1">
                <a:solidFill>
                  <a:srgbClr val="1B2A4A"/>
                </a:solidFill>
                <a:latin typeface="Arial"/>
              </a:rPr>
              <a:t>TASA DE EXITO COMO PILOTO POR PLANETA DE ORIGEN</a:t>
            </a:r>
          </a:p>
        </p:txBody>
      </p:sp>
      <p:sp>
        <p:nvSpPr>
          <p:cNvPr id="19" name="TextBox 18"/>
          <p:cNvSpPr txBox="1"/>
          <p:nvPr/>
        </p:nvSpPr>
        <p:spPr>
          <a:xfrm>
            <a:off x="457200" y="3328416"/>
            <a:ext cx="1097280" cy="292608"/>
          </a:xfrm>
          <a:prstGeom prst="rect">
            <a:avLst/>
          </a:prstGeom>
          <a:noFill/>
        </p:spPr>
        <p:txBody>
          <a:bodyPr wrap="square">
            <a:spAutoFit/>
          </a:bodyPr>
          <a:lstStyle/>
          <a:p>
            <a:pPr algn="l"/>
            <a:r>
              <a:rPr sz="900" b="0">
                <a:solidFill>
                  <a:srgbClr val="2C2C2C"/>
                </a:solidFill>
                <a:latin typeface="Arial"/>
              </a:rPr>
              <a:t>Fest</a:t>
            </a:r>
          </a:p>
        </p:txBody>
      </p:sp>
      <p:sp>
        <p:nvSpPr>
          <p:cNvPr id="20" name="Rectangle 19"/>
          <p:cNvSpPr/>
          <p:nvPr/>
        </p:nvSpPr>
        <p:spPr>
          <a:xfrm>
            <a:off x="1600200" y="3346704"/>
            <a:ext cx="4114800" cy="21945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720" y="3328416"/>
            <a:ext cx="457200" cy="274320"/>
          </a:xfrm>
          <a:prstGeom prst="rect">
            <a:avLst/>
          </a:prstGeom>
          <a:noFill/>
        </p:spPr>
        <p:txBody>
          <a:bodyPr wrap="square">
            <a:spAutoFit/>
          </a:bodyPr>
          <a:lstStyle/>
          <a:p>
            <a:pPr algn="l"/>
            <a:r>
              <a:rPr sz="800" b="1">
                <a:solidFill>
                  <a:srgbClr val="C9A84C"/>
                </a:solidFill>
                <a:latin typeface="Arial"/>
              </a:rPr>
              <a:t>100%</a:t>
            </a:r>
          </a:p>
        </p:txBody>
      </p:sp>
      <p:sp>
        <p:nvSpPr>
          <p:cNvPr id="22" name="TextBox 21"/>
          <p:cNvSpPr txBox="1"/>
          <p:nvPr/>
        </p:nvSpPr>
        <p:spPr>
          <a:xfrm>
            <a:off x="457200" y="3675888"/>
            <a:ext cx="1097280" cy="292608"/>
          </a:xfrm>
          <a:prstGeom prst="rect">
            <a:avLst/>
          </a:prstGeom>
          <a:noFill/>
        </p:spPr>
        <p:txBody>
          <a:bodyPr wrap="square">
            <a:spAutoFit/>
          </a:bodyPr>
          <a:lstStyle/>
          <a:p>
            <a:pPr algn="l"/>
            <a:r>
              <a:rPr sz="900" b="0">
                <a:solidFill>
                  <a:srgbClr val="2C2C2C"/>
                </a:solidFill>
                <a:latin typeface="Arial"/>
              </a:rPr>
              <a:t>Lothal</a:t>
            </a:r>
          </a:p>
        </p:txBody>
      </p:sp>
      <p:sp>
        <p:nvSpPr>
          <p:cNvPr id="23" name="Rectangle 22"/>
          <p:cNvSpPr/>
          <p:nvPr/>
        </p:nvSpPr>
        <p:spPr>
          <a:xfrm>
            <a:off x="1600200" y="3694176"/>
            <a:ext cx="4114800" cy="21945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720" y="3675888"/>
            <a:ext cx="457200" cy="274320"/>
          </a:xfrm>
          <a:prstGeom prst="rect">
            <a:avLst/>
          </a:prstGeom>
          <a:noFill/>
        </p:spPr>
        <p:txBody>
          <a:bodyPr wrap="square">
            <a:spAutoFit/>
          </a:bodyPr>
          <a:lstStyle/>
          <a:p>
            <a:pPr algn="l"/>
            <a:r>
              <a:rPr sz="800" b="1">
                <a:solidFill>
                  <a:srgbClr val="C9A84C"/>
                </a:solidFill>
                <a:latin typeface="Arial"/>
              </a:rPr>
              <a:t>100%</a:t>
            </a:r>
          </a:p>
        </p:txBody>
      </p:sp>
      <p:sp>
        <p:nvSpPr>
          <p:cNvPr id="25" name="TextBox 24"/>
          <p:cNvSpPr txBox="1"/>
          <p:nvPr/>
        </p:nvSpPr>
        <p:spPr>
          <a:xfrm>
            <a:off x="457200" y="4023360"/>
            <a:ext cx="1097280" cy="292608"/>
          </a:xfrm>
          <a:prstGeom prst="rect">
            <a:avLst/>
          </a:prstGeom>
          <a:noFill/>
        </p:spPr>
        <p:txBody>
          <a:bodyPr wrap="square">
            <a:spAutoFit/>
          </a:bodyPr>
          <a:lstStyle/>
          <a:p>
            <a:pPr algn="l"/>
            <a:r>
              <a:rPr sz="900" b="0">
                <a:solidFill>
                  <a:srgbClr val="2C2C2C"/>
                </a:solidFill>
                <a:latin typeface="Arial"/>
              </a:rPr>
              <a:t>Tatooine</a:t>
            </a:r>
          </a:p>
        </p:txBody>
      </p:sp>
      <p:sp>
        <p:nvSpPr>
          <p:cNvPr id="26" name="Rectangle 25"/>
          <p:cNvSpPr/>
          <p:nvPr/>
        </p:nvSpPr>
        <p:spPr>
          <a:xfrm>
            <a:off x="1600200" y="4041648"/>
            <a:ext cx="2057400" cy="21945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03320" y="4023360"/>
            <a:ext cx="457200" cy="274320"/>
          </a:xfrm>
          <a:prstGeom prst="rect">
            <a:avLst/>
          </a:prstGeom>
          <a:noFill/>
        </p:spPr>
        <p:txBody>
          <a:bodyPr wrap="square">
            <a:spAutoFit/>
          </a:bodyPr>
          <a:lstStyle/>
          <a:p>
            <a:pPr algn="l"/>
            <a:r>
              <a:rPr sz="800" b="1">
                <a:solidFill>
                  <a:srgbClr val="C9A84C"/>
                </a:solidFill>
                <a:latin typeface="Arial"/>
              </a:rPr>
              <a:t>50%</a:t>
            </a:r>
          </a:p>
        </p:txBody>
      </p:sp>
      <p:sp>
        <p:nvSpPr>
          <p:cNvPr id="28" name="TextBox 27"/>
          <p:cNvSpPr txBox="1"/>
          <p:nvPr/>
        </p:nvSpPr>
        <p:spPr>
          <a:xfrm>
            <a:off x="457200" y="4370832"/>
            <a:ext cx="1097280" cy="292608"/>
          </a:xfrm>
          <a:prstGeom prst="rect">
            <a:avLst/>
          </a:prstGeom>
          <a:noFill/>
        </p:spPr>
        <p:txBody>
          <a:bodyPr wrap="square">
            <a:spAutoFit/>
          </a:bodyPr>
          <a:lstStyle/>
          <a:p>
            <a:pPr algn="l"/>
            <a:r>
              <a:rPr sz="900" b="0">
                <a:solidFill>
                  <a:srgbClr val="2C2C2C"/>
                </a:solidFill>
                <a:latin typeface="Arial"/>
              </a:rPr>
              <a:t>Ryloth</a:t>
            </a:r>
          </a:p>
        </p:txBody>
      </p:sp>
      <p:sp>
        <p:nvSpPr>
          <p:cNvPr id="29" name="Rectangle 28"/>
          <p:cNvSpPr/>
          <p:nvPr/>
        </p:nvSpPr>
        <p:spPr>
          <a:xfrm>
            <a:off x="1600200" y="4389120"/>
            <a:ext cx="2057400" cy="21945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03320" y="4370832"/>
            <a:ext cx="457200" cy="274320"/>
          </a:xfrm>
          <a:prstGeom prst="rect">
            <a:avLst/>
          </a:prstGeom>
          <a:noFill/>
        </p:spPr>
        <p:txBody>
          <a:bodyPr wrap="square">
            <a:spAutoFit/>
          </a:bodyPr>
          <a:lstStyle/>
          <a:p>
            <a:pPr algn="l"/>
            <a:r>
              <a:rPr sz="800" b="1">
                <a:solidFill>
                  <a:srgbClr val="C9A84C"/>
                </a:solidFill>
                <a:latin typeface="Arial"/>
              </a:rPr>
              <a:t>50%</a:t>
            </a:r>
          </a:p>
        </p:txBody>
      </p:sp>
      <p:sp>
        <p:nvSpPr>
          <p:cNvPr id="31" name="TextBox 30"/>
          <p:cNvSpPr txBox="1"/>
          <p:nvPr/>
        </p:nvSpPr>
        <p:spPr>
          <a:xfrm>
            <a:off x="457200" y="4718304"/>
            <a:ext cx="1097280" cy="292608"/>
          </a:xfrm>
          <a:prstGeom prst="rect">
            <a:avLst/>
          </a:prstGeom>
          <a:noFill/>
        </p:spPr>
        <p:txBody>
          <a:bodyPr wrap="square">
            <a:spAutoFit/>
          </a:bodyPr>
          <a:lstStyle/>
          <a:p>
            <a:pPr algn="l"/>
            <a:r>
              <a:rPr sz="900" b="0">
                <a:solidFill>
                  <a:srgbClr val="2C2C2C"/>
                </a:solidFill>
                <a:latin typeface="Arial"/>
              </a:rPr>
              <a:t>Naboo</a:t>
            </a:r>
          </a:p>
        </p:txBody>
      </p:sp>
      <p:sp>
        <p:nvSpPr>
          <p:cNvPr id="32" name="Rectangle 31"/>
          <p:cNvSpPr/>
          <p:nvPr/>
        </p:nvSpPr>
        <p:spPr>
          <a:xfrm>
            <a:off x="1600200" y="4736592"/>
            <a:ext cx="2057400" cy="21945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03320" y="4718304"/>
            <a:ext cx="457200" cy="274320"/>
          </a:xfrm>
          <a:prstGeom prst="rect">
            <a:avLst/>
          </a:prstGeom>
          <a:noFill/>
        </p:spPr>
        <p:txBody>
          <a:bodyPr wrap="square">
            <a:spAutoFit/>
          </a:bodyPr>
          <a:lstStyle/>
          <a:p>
            <a:pPr algn="l"/>
            <a:r>
              <a:rPr sz="800" b="1">
                <a:solidFill>
                  <a:srgbClr val="C9A84C"/>
                </a:solidFill>
                <a:latin typeface="Arial"/>
              </a:rPr>
              <a:t>50%</a:t>
            </a:r>
          </a:p>
        </p:txBody>
      </p:sp>
      <p:sp>
        <p:nvSpPr>
          <p:cNvPr id="34" name="TextBox 33"/>
          <p:cNvSpPr txBox="1"/>
          <p:nvPr/>
        </p:nvSpPr>
        <p:spPr>
          <a:xfrm>
            <a:off x="457200" y="5065776"/>
            <a:ext cx="1097280" cy="292608"/>
          </a:xfrm>
          <a:prstGeom prst="rect">
            <a:avLst/>
          </a:prstGeom>
          <a:noFill/>
        </p:spPr>
        <p:txBody>
          <a:bodyPr wrap="square">
            <a:spAutoFit/>
          </a:bodyPr>
          <a:lstStyle/>
          <a:p>
            <a:pPr algn="l"/>
            <a:r>
              <a:rPr sz="900" b="0">
                <a:solidFill>
                  <a:srgbClr val="2C2C2C"/>
                </a:solidFill>
                <a:latin typeface="Arial"/>
              </a:rPr>
              <a:t>Alderaan</a:t>
            </a:r>
          </a:p>
        </p:txBody>
      </p:sp>
      <p:sp>
        <p:nvSpPr>
          <p:cNvPr id="35" name="Rectangle 34"/>
          <p:cNvSpPr/>
          <p:nvPr/>
        </p:nvSpPr>
        <p:spPr>
          <a:xfrm>
            <a:off x="1600200" y="5084064"/>
            <a:ext cx="2057400" cy="21945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03320" y="5065776"/>
            <a:ext cx="457200" cy="274320"/>
          </a:xfrm>
          <a:prstGeom prst="rect">
            <a:avLst/>
          </a:prstGeom>
          <a:noFill/>
        </p:spPr>
        <p:txBody>
          <a:bodyPr wrap="square">
            <a:spAutoFit/>
          </a:bodyPr>
          <a:lstStyle/>
          <a:p>
            <a:pPr algn="l"/>
            <a:r>
              <a:rPr sz="800" b="1">
                <a:solidFill>
                  <a:srgbClr val="C9A84C"/>
                </a:solidFill>
                <a:latin typeface="Arial"/>
              </a:rPr>
              <a:t>50%</a:t>
            </a:r>
          </a:p>
        </p:txBody>
      </p:sp>
      <p:sp>
        <p:nvSpPr>
          <p:cNvPr id="37" name="TextBox 36"/>
          <p:cNvSpPr txBox="1"/>
          <p:nvPr/>
        </p:nvSpPr>
        <p:spPr>
          <a:xfrm>
            <a:off x="457200" y="5413248"/>
            <a:ext cx="1097280" cy="292608"/>
          </a:xfrm>
          <a:prstGeom prst="rect">
            <a:avLst/>
          </a:prstGeom>
          <a:noFill/>
        </p:spPr>
        <p:txBody>
          <a:bodyPr wrap="square">
            <a:spAutoFit/>
          </a:bodyPr>
          <a:lstStyle/>
          <a:p>
            <a:pPr algn="l"/>
            <a:r>
              <a:rPr sz="900" b="0">
                <a:solidFill>
                  <a:srgbClr val="2C2C2C"/>
                </a:solidFill>
                <a:latin typeface="Arial"/>
              </a:rPr>
              <a:t>Kamino</a:t>
            </a:r>
          </a:p>
        </p:txBody>
      </p:sp>
      <p:sp>
        <p:nvSpPr>
          <p:cNvPr id="38" name="Rectangle 37"/>
          <p:cNvSpPr/>
          <p:nvPr/>
        </p:nvSpPr>
        <p:spPr>
          <a:xfrm>
            <a:off x="1600200" y="5431536"/>
            <a:ext cx="2057400" cy="21945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03320" y="5413248"/>
            <a:ext cx="457200" cy="274320"/>
          </a:xfrm>
          <a:prstGeom prst="rect">
            <a:avLst/>
          </a:prstGeom>
          <a:noFill/>
        </p:spPr>
        <p:txBody>
          <a:bodyPr wrap="square">
            <a:spAutoFit/>
          </a:bodyPr>
          <a:lstStyle/>
          <a:p>
            <a:pPr algn="l"/>
            <a:r>
              <a:rPr sz="800" b="1">
                <a:solidFill>
                  <a:srgbClr val="C9A84C"/>
                </a:solidFill>
                <a:latin typeface="Arial"/>
              </a:rPr>
              <a:t>50%</a:t>
            </a:r>
          </a:p>
        </p:txBody>
      </p:sp>
      <p:sp>
        <p:nvSpPr>
          <p:cNvPr id="40" name="TextBox 39"/>
          <p:cNvSpPr txBox="1"/>
          <p:nvPr/>
        </p:nvSpPr>
        <p:spPr>
          <a:xfrm>
            <a:off x="457200" y="5760720"/>
            <a:ext cx="1097280" cy="292608"/>
          </a:xfrm>
          <a:prstGeom prst="rect">
            <a:avLst/>
          </a:prstGeom>
          <a:noFill/>
        </p:spPr>
        <p:txBody>
          <a:bodyPr wrap="square">
            <a:spAutoFit/>
          </a:bodyPr>
          <a:lstStyle/>
          <a:p>
            <a:pPr algn="l"/>
            <a:r>
              <a:rPr sz="900" b="0">
                <a:solidFill>
                  <a:srgbClr val="2C2C2C"/>
                </a:solidFill>
                <a:latin typeface="Arial"/>
              </a:rPr>
              <a:t>Corellia</a:t>
            </a:r>
          </a:p>
        </p:txBody>
      </p:sp>
      <p:sp>
        <p:nvSpPr>
          <p:cNvPr id="41" name="Rectangle 40"/>
          <p:cNvSpPr/>
          <p:nvPr/>
        </p:nvSpPr>
        <p:spPr>
          <a:xfrm>
            <a:off x="1600200" y="5779008"/>
            <a:ext cx="822960" cy="219456"/>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468880" y="5760720"/>
            <a:ext cx="457200" cy="274320"/>
          </a:xfrm>
          <a:prstGeom prst="rect">
            <a:avLst/>
          </a:prstGeom>
          <a:noFill/>
        </p:spPr>
        <p:txBody>
          <a:bodyPr wrap="square">
            <a:spAutoFit/>
          </a:bodyPr>
          <a:lstStyle/>
          <a:p>
            <a:pPr algn="l"/>
            <a:r>
              <a:rPr sz="800" b="1">
                <a:solidFill>
                  <a:srgbClr val="1B2A4A"/>
                </a:solidFill>
                <a:latin typeface="Arial"/>
              </a:rPr>
              <a:t>20%</a:t>
            </a:r>
          </a:p>
        </p:txBody>
      </p:sp>
      <p:sp>
        <p:nvSpPr>
          <p:cNvPr id="43" name="TextBox 42"/>
          <p:cNvSpPr txBox="1"/>
          <p:nvPr/>
        </p:nvSpPr>
        <p:spPr>
          <a:xfrm>
            <a:off x="6400800" y="2971800"/>
            <a:ext cx="5303520" cy="274320"/>
          </a:xfrm>
          <a:prstGeom prst="rect">
            <a:avLst/>
          </a:prstGeom>
          <a:noFill/>
        </p:spPr>
        <p:txBody>
          <a:bodyPr wrap="square">
            <a:spAutoFit/>
          </a:bodyPr>
          <a:lstStyle/>
          <a:p>
            <a:pPr algn="l"/>
            <a:r>
              <a:rPr sz="900" b="1">
                <a:solidFill>
                  <a:srgbClr val="1B2A4A"/>
                </a:solidFill>
                <a:latin typeface="Arial"/>
              </a:rPr>
              <a:t>PRINCIPALES ESPECIES EN EL CUERPO DE PILOTOS</a:t>
            </a:r>
          </a:p>
        </p:txBody>
      </p:sp>
      <p:sp>
        <p:nvSpPr>
          <p:cNvPr id="44" name="Rectangle 43"/>
          <p:cNvSpPr/>
          <p:nvPr/>
        </p:nvSpPr>
        <p:spPr>
          <a:xfrm>
            <a:off x="6400800" y="3291840"/>
            <a:ext cx="5212080" cy="5029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92240" y="3383280"/>
            <a:ext cx="1828800" cy="365760"/>
          </a:xfrm>
          <a:prstGeom prst="rect">
            <a:avLst/>
          </a:prstGeom>
          <a:noFill/>
        </p:spPr>
        <p:txBody>
          <a:bodyPr wrap="square">
            <a:spAutoFit/>
          </a:bodyPr>
          <a:lstStyle/>
          <a:p>
            <a:pPr algn="l"/>
            <a:r>
              <a:rPr sz="1000" b="0">
                <a:solidFill>
                  <a:srgbClr val="2C2C2C"/>
                </a:solidFill>
                <a:latin typeface="Arial"/>
              </a:rPr>
              <a:t>Humano</a:t>
            </a:r>
          </a:p>
        </p:txBody>
      </p:sp>
      <p:sp>
        <p:nvSpPr>
          <p:cNvPr id="46" name="TextBox 45"/>
          <p:cNvSpPr txBox="1"/>
          <p:nvPr/>
        </p:nvSpPr>
        <p:spPr>
          <a:xfrm>
            <a:off x="8412480" y="3383280"/>
            <a:ext cx="3017520" cy="365760"/>
          </a:xfrm>
          <a:prstGeom prst="rect">
            <a:avLst/>
          </a:prstGeom>
          <a:noFill/>
        </p:spPr>
        <p:txBody>
          <a:bodyPr wrap="square">
            <a:spAutoFit/>
          </a:bodyPr>
          <a:lstStyle/>
          <a:p>
            <a:pPr algn="l"/>
            <a:r>
              <a:rPr sz="1000" b="1">
                <a:solidFill>
                  <a:srgbClr val="1B2A4A"/>
                </a:solidFill>
                <a:latin typeface="Arial"/>
              </a:rPr>
              <a:t>14 pilotos / 60 total = 23%</a:t>
            </a:r>
          </a:p>
        </p:txBody>
      </p:sp>
      <p:sp>
        <p:nvSpPr>
          <p:cNvPr id="47" name="Rectangle 46"/>
          <p:cNvSpPr/>
          <p:nvPr/>
        </p:nvSpPr>
        <p:spPr>
          <a:xfrm>
            <a:off x="6400800" y="3886200"/>
            <a:ext cx="52120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92240" y="3977640"/>
            <a:ext cx="1828800" cy="365760"/>
          </a:xfrm>
          <a:prstGeom prst="rect">
            <a:avLst/>
          </a:prstGeom>
          <a:noFill/>
        </p:spPr>
        <p:txBody>
          <a:bodyPr wrap="square">
            <a:spAutoFit/>
          </a:bodyPr>
          <a:lstStyle/>
          <a:p>
            <a:pPr algn="l"/>
            <a:r>
              <a:rPr sz="1000" b="0">
                <a:solidFill>
                  <a:srgbClr val="2C2C2C"/>
                </a:solidFill>
                <a:latin typeface="Arial"/>
              </a:rPr>
              <a:t>Twi'Lek</a:t>
            </a:r>
          </a:p>
        </p:txBody>
      </p:sp>
      <p:sp>
        <p:nvSpPr>
          <p:cNvPr id="49" name="TextBox 48"/>
          <p:cNvSpPr txBox="1"/>
          <p:nvPr/>
        </p:nvSpPr>
        <p:spPr>
          <a:xfrm>
            <a:off x="8412480" y="3977640"/>
            <a:ext cx="3017520" cy="365760"/>
          </a:xfrm>
          <a:prstGeom prst="rect">
            <a:avLst/>
          </a:prstGeom>
          <a:noFill/>
        </p:spPr>
        <p:txBody>
          <a:bodyPr wrap="square">
            <a:spAutoFit/>
          </a:bodyPr>
          <a:lstStyle/>
          <a:p>
            <a:pPr algn="l"/>
            <a:r>
              <a:rPr sz="1000" b="1">
                <a:solidFill>
                  <a:srgbClr val="1B2A4A"/>
                </a:solidFill>
                <a:latin typeface="Arial"/>
              </a:rPr>
              <a:t>2 pilotos / 4 total = 50%</a:t>
            </a:r>
          </a:p>
        </p:txBody>
      </p:sp>
      <p:sp>
        <p:nvSpPr>
          <p:cNvPr id="50" name="Rectangle 49"/>
          <p:cNvSpPr/>
          <p:nvPr/>
        </p:nvSpPr>
        <p:spPr>
          <a:xfrm>
            <a:off x="6400800" y="4480560"/>
            <a:ext cx="5212080" cy="5029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92240" y="4572000"/>
            <a:ext cx="1828800" cy="365760"/>
          </a:xfrm>
          <a:prstGeom prst="rect">
            <a:avLst/>
          </a:prstGeom>
          <a:noFill/>
        </p:spPr>
        <p:txBody>
          <a:bodyPr wrap="square">
            <a:spAutoFit/>
          </a:bodyPr>
          <a:lstStyle/>
          <a:p>
            <a:pPr algn="l"/>
            <a:r>
              <a:rPr sz="1000" b="0">
                <a:solidFill>
                  <a:srgbClr val="2C2C2C"/>
                </a:solidFill>
                <a:latin typeface="Arial"/>
              </a:rPr>
              <a:t>Wookiee</a:t>
            </a:r>
          </a:p>
        </p:txBody>
      </p:sp>
      <p:sp>
        <p:nvSpPr>
          <p:cNvPr id="52" name="TextBox 51"/>
          <p:cNvSpPr txBox="1"/>
          <p:nvPr/>
        </p:nvSpPr>
        <p:spPr>
          <a:xfrm>
            <a:off x="8412480" y="4572000"/>
            <a:ext cx="3017520" cy="365760"/>
          </a:xfrm>
          <a:prstGeom prst="rect">
            <a:avLst/>
          </a:prstGeom>
          <a:noFill/>
        </p:spPr>
        <p:txBody>
          <a:bodyPr wrap="square">
            <a:spAutoFit/>
          </a:bodyPr>
          <a:lstStyle/>
          <a:p>
            <a:pPr algn="l"/>
            <a:r>
              <a:rPr sz="1000" b="1">
                <a:solidFill>
                  <a:srgbClr val="1B2A4A"/>
                </a:solidFill>
                <a:latin typeface="Arial"/>
              </a:rPr>
              <a:t>1 pilotos / 1 total = 100%</a:t>
            </a:r>
          </a:p>
        </p:txBody>
      </p:sp>
      <p:sp>
        <p:nvSpPr>
          <p:cNvPr id="53" name="Rectangle 52"/>
          <p:cNvSpPr/>
          <p:nvPr/>
        </p:nvSpPr>
        <p:spPr>
          <a:xfrm>
            <a:off x="6400800" y="5074920"/>
            <a:ext cx="52120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92240" y="5166360"/>
            <a:ext cx="1828800" cy="365760"/>
          </a:xfrm>
          <a:prstGeom prst="rect">
            <a:avLst/>
          </a:prstGeom>
          <a:noFill/>
        </p:spPr>
        <p:txBody>
          <a:bodyPr wrap="square">
            <a:spAutoFit/>
          </a:bodyPr>
          <a:lstStyle/>
          <a:p>
            <a:pPr algn="l"/>
            <a:r>
              <a:rPr sz="1000" b="0">
                <a:solidFill>
                  <a:srgbClr val="2C2C2C"/>
                </a:solidFill>
                <a:latin typeface="Arial"/>
              </a:rPr>
              <a:t>Trandoshan</a:t>
            </a:r>
          </a:p>
        </p:txBody>
      </p:sp>
      <p:sp>
        <p:nvSpPr>
          <p:cNvPr id="55" name="TextBox 54"/>
          <p:cNvSpPr txBox="1"/>
          <p:nvPr/>
        </p:nvSpPr>
        <p:spPr>
          <a:xfrm>
            <a:off x="8412480" y="5166360"/>
            <a:ext cx="3017520" cy="365760"/>
          </a:xfrm>
          <a:prstGeom prst="rect">
            <a:avLst/>
          </a:prstGeom>
          <a:noFill/>
        </p:spPr>
        <p:txBody>
          <a:bodyPr wrap="square">
            <a:spAutoFit/>
          </a:bodyPr>
          <a:lstStyle/>
          <a:p>
            <a:pPr algn="l"/>
            <a:r>
              <a:rPr sz="1000" b="1">
                <a:solidFill>
                  <a:srgbClr val="1B2A4A"/>
                </a:solidFill>
                <a:latin typeface="Arial"/>
              </a:rPr>
              <a:t>1 pilotos / 1 total = 100%</a:t>
            </a:r>
          </a:p>
        </p:txBody>
      </p:sp>
      <p:sp>
        <p:nvSpPr>
          <p:cNvPr id="56" name="Rectangle 55"/>
          <p:cNvSpPr/>
          <p:nvPr/>
        </p:nvSpPr>
        <p:spPr>
          <a:xfrm>
            <a:off x="457200" y="6263640"/>
            <a:ext cx="11247120" cy="457200"/>
          </a:xfrm>
          <a:prstGeom prst="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4360" y="6327648"/>
            <a:ext cx="10972800" cy="365760"/>
          </a:xfrm>
          <a:prstGeom prst="rect">
            <a:avLst/>
          </a:prstGeom>
          <a:noFill/>
        </p:spPr>
        <p:txBody>
          <a:bodyPr wrap="square">
            <a:spAutoFit/>
          </a:bodyPr>
          <a:lstStyle/>
          <a:p>
            <a:pPr algn="l"/>
            <a:r>
              <a:rPr sz="900" b="0">
                <a:solidFill>
                  <a:srgbClr val="1B2A4A"/>
                </a:solidFill>
                <a:latin typeface="Arial"/>
              </a:rPr>
              <a:t>RECOMENDACION: Concentrar el reclutamiento en Tatooine, Ryloth y Naboo. La brecha de genero es minima (20.6% masculino vs 16.7% femenino) — el talento esta distribuido equitativamente por genero.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6400800" cy="320040"/>
          </a:xfrm>
          <a:prstGeom prst="rect">
            <a:avLst/>
          </a:prstGeom>
          <a:noFill/>
        </p:spPr>
        <p:txBody>
          <a:bodyPr wrap="square">
            <a:spAutoFit/>
          </a:bodyPr>
          <a:lstStyle/>
          <a:p>
            <a:pPr algn="l"/>
            <a:r>
              <a:rPr sz="900" b="1">
                <a:solidFill>
                  <a:srgbClr val="C9A84C"/>
                </a:solidFill>
                <a:latin typeface="Arial"/>
              </a:rPr>
              <a:t>P3 | INVERSION ESTRATEGICA</a:t>
            </a:r>
          </a:p>
        </p:txBody>
      </p:sp>
      <p:sp>
        <p:nvSpPr>
          <p:cNvPr id="4" name="TextBox 3"/>
          <p:cNvSpPr txBox="1"/>
          <p:nvPr/>
        </p:nvSpPr>
        <p:spPr>
          <a:xfrm>
            <a:off x="457200" y="502920"/>
            <a:ext cx="11247120" cy="914400"/>
          </a:xfrm>
          <a:prstGeom prst="rect">
            <a:avLst/>
          </a:prstGeom>
          <a:noFill/>
        </p:spPr>
        <p:txBody>
          <a:bodyPr wrap="square">
            <a:spAutoFit/>
          </a:bodyPr>
          <a:lstStyle/>
          <a:p>
            <a:pPr algn="l"/>
            <a:r>
              <a:rPr sz="1800" b="1">
                <a:solidFill>
                  <a:srgbClr val="1B2A4A"/>
                </a:solidFill>
                <a:latin typeface="Arial"/>
              </a:rPr>
              <a:t>Depende del objetivo: el Star Dreadnought gana en escala, el Carguero Ligero gana en presupuesto.
Nunca concentrar la inversion en una sola clase de nave.</a:t>
            </a:r>
          </a:p>
        </p:txBody>
      </p:sp>
      <p:cxnSp>
        <p:nvCxnSpPr>
          <p:cNvPr id="5" name="Connector 4"/>
          <p:cNvCxnSpPr/>
          <p:nvPr/>
        </p:nvCxnSpPr>
        <p:spPr>
          <a:xfrm>
            <a:off x="457200" y="1463040"/>
            <a:ext cx="11274552"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600200"/>
            <a:ext cx="2697480" cy="41148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91640"/>
            <a:ext cx="2514600" cy="411480"/>
          </a:xfrm>
          <a:prstGeom prst="rect">
            <a:avLst/>
          </a:prstGeom>
          <a:noFill/>
        </p:spPr>
        <p:txBody>
          <a:bodyPr wrap="square">
            <a:spAutoFit/>
          </a:bodyPr>
          <a:lstStyle/>
          <a:p>
            <a:pPr algn="l"/>
            <a:r>
              <a:rPr sz="1100" b="1">
                <a:solidFill>
                  <a:srgbClr val="FFFFFF"/>
                </a:solidFill>
                <a:latin typeface="Arial"/>
              </a:rPr>
              <a:t>Destructor Estelar</a:t>
            </a:r>
          </a:p>
        </p:txBody>
      </p:sp>
      <p:sp>
        <p:nvSpPr>
          <p:cNvPr id="8" name="TextBox 7"/>
          <p:cNvSpPr txBox="1"/>
          <p:nvPr/>
        </p:nvSpPr>
        <p:spPr>
          <a:xfrm>
            <a:off x="548640" y="2103120"/>
            <a:ext cx="2514600" cy="274320"/>
          </a:xfrm>
          <a:prstGeom prst="rect">
            <a:avLst/>
          </a:prstGeom>
          <a:noFill/>
        </p:spPr>
        <p:txBody>
          <a:bodyPr wrap="square">
            <a:spAutoFit/>
          </a:bodyPr>
          <a:lstStyle/>
          <a:p>
            <a:pPr algn="l"/>
            <a:r>
              <a:rPr sz="900" b="0">
                <a:solidFill>
                  <a:srgbClr val="FFFFFF"/>
                </a:solidFill>
                <a:latin typeface="Arial"/>
              </a:rPr>
              <a:t>Puntaje Estrategico: 0.57</a:t>
            </a:r>
          </a:p>
        </p:txBody>
      </p:sp>
      <p:sp>
        <p:nvSpPr>
          <p:cNvPr id="9" name="Rectangle 8"/>
          <p:cNvSpPr/>
          <p:nvPr/>
        </p:nvSpPr>
        <p:spPr>
          <a:xfrm>
            <a:off x="548640" y="2423160"/>
            <a:ext cx="2286000" cy="164592"/>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423160"/>
            <a:ext cx="1309878"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697480"/>
            <a:ext cx="2514600" cy="256032"/>
          </a:xfrm>
          <a:prstGeom prst="rect">
            <a:avLst/>
          </a:prstGeom>
          <a:noFill/>
        </p:spPr>
        <p:txBody>
          <a:bodyPr wrap="square">
            <a:spAutoFit/>
          </a:bodyPr>
          <a:lstStyle/>
          <a:p>
            <a:pPr algn="l"/>
            <a:r>
              <a:rPr sz="900" b="0">
                <a:solidFill>
                  <a:srgbClr val="FFFFFF"/>
                </a:solidFill>
                <a:latin typeface="Arial"/>
              </a:rPr>
              <a:t>Pasajeros prom.: 38,000 pasajeros</a:t>
            </a:r>
          </a:p>
        </p:txBody>
      </p:sp>
      <p:sp>
        <p:nvSpPr>
          <p:cNvPr id="12" name="TextBox 11"/>
          <p:cNvSpPr txBox="1"/>
          <p:nvPr/>
        </p:nvSpPr>
        <p:spPr>
          <a:xfrm>
            <a:off x="548640" y="2944368"/>
            <a:ext cx="2514600" cy="256032"/>
          </a:xfrm>
          <a:prstGeom prst="rect">
            <a:avLst/>
          </a:prstGeom>
          <a:noFill/>
        </p:spPr>
        <p:txBody>
          <a:bodyPr wrap="square">
            <a:spAutoFit/>
          </a:bodyPr>
          <a:lstStyle/>
          <a:p>
            <a:pPr algn="l"/>
            <a:r>
              <a:rPr sz="900" b="0">
                <a:solidFill>
                  <a:srgbClr val="FFFFFF"/>
                </a:solidFill>
                <a:latin typeface="Arial"/>
              </a:rPr>
              <a:t>Costo prom.: 1,143 millones creditos</a:t>
            </a:r>
          </a:p>
        </p:txBody>
      </p:sp>
      <p:sp>
        <p:nvSpPr>
          <p:cNvPr id="13" name="TextBox 12"/>
          <p:cNvSpPr txBox="1"/>
          <p:nvPr/>
        </p:nvSpPr>
        <p:spPr>
          <a:xfrm>
            <a:off x="548640" y="3291840"/>
            <a:ext cx="2514600" cy="685800"/>
          </a:xfrm>
          <a:prstGeom prst="rect">
            <a:avLst/>
          </a:prstGeom>
          <a:noFill/>
        </p:spPr>
        <p:txBody>
          <a:bodyPr wrap="square">
            <a:spAutoFit/>
          </a:bodyPr>
          <a:lstStyle/>
          <a:p>
            <a:pPr algn="l"/>
            <a:r>
              <a:rPr sz="850" b="0">
                <a:solidFill>
                  <a:srgbClr val="FFFFFF"/>
                </a:solidFill>
                <a:latin typeface="Arial"/>
              </a:rPr>
              <a:t>Transporte masivo. Capacidad sin igual
pero costo extremo. Una nave = 99% del presupuesto.</a:t>
            </a:r>
          </a:p>
        </p:txBody>
      </p:sp>
      <p:sp>
        <p:nvSpPr>
          <p:cNvPr id="14" name="Rectangle 13"/>
          <p:cNvSpPr/>
          <p:nvPr/>
        </p:nvSpPr>
        <p:spPr>
          <a:xfrm>
            <a:off x="3291840" y="1600200"/>
            <a:ext cx="2697480" cy="4114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3280" y="1691640"/>
            <a:ext cx="2514600" cy="411480"/>
          </a:xfrm>
          <a:prstGeom prst="rect">
            <a:avLst/>
          </a:prstGeom>
          <a:noFill/>
        </p:spPr>
        <p:txBody>
          <a:bodyPr wrap="square">
            <a:spAutoFit/>
          </a:bodyPr>
          <a:lstStyle/>
          <a:p>
            <a:pPr algn="l"/>
            <a:r>
              <a:rPr sz="1100" b="1">
                <a:solidFill>
                  <a:srgbClr val="FFFFFF"/>
                </a:solidFill>
                <a:latin typeface="Arial"/>
              </a:rPr>
              <a:t>Carguero Ligero</a:t>
            </a:r>
          </a:p>
        </p:txBody>
      </p:sp>
      <p:sp>
        <p:nvSpPr>
          <p:cNvPr id="16" name="TextBox 15"/>
          <p:cNvSpPr txBox="1"/>
          <p:nvPr/>
        </p:nvSpPr>
        <p:spPr>
          <a:xfrm>
            <a:off x="3383280" y="2103120"/>
            <a:ext cx="2514600" cy="274320"/>
          </a:xfrm>
          <a:prstGeom prst="rect">
            <a:avLst/>
          </a:prstGeom>
          <a:noFill/>
        </p:spPr>
        <p:txBody>
          <a:bodyPr wrap="square">
            <a:spAutoFit/>
          </a:bodyPr>
          <a:lstStyle/>
          <a:p>
            <a:pPr algn="l"/>
            <a:r>
              <a:rPr sz="900" b="0">
                <a:solidFill>
                  <a:srgbClr val="FFFFFF"/>
                </a:solidFill>
                <a:latin typeface="Arial"/>
              </a:rPr>
              <a:t>Puntaje Estrategico: 0.50</a:t>
            </a:r>
          </a:p>
        </p:txBody>
      </p:sp>
      <p:sp>
        <p:nvSpPr>
          <p:cNvPr id="17" name="Rectangle 16"/>
          <p:cNvSpPr/>
          <p:nvPr/>
        </p:nvSpPr>
        <p:spPr>
          <a:xfrm>
            <a:off x="3383280" y="2423160"/>
            <a:ext cx="2286000" cy="164592"/>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83280" y="2423160"/>
            <a:ext cx="1143000"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0" y="2697480"/>
            <a:ext cx="2514600" cy="256032"/>
          </a:xfrm>
          <a:prstGeom prst="rect">
            <a:avLst/>
          </a:prstGeom>
          <a:noFill/>
        </p:spPr>
        <p:txBody>
          <a:bodyPr wrap="square">
            <a:spAutoFit/>
          </a:bodyPr>
          <a:lstStyle/>
          <a:p>
            <a:pPr algn="l"/>
            <a:r>
              <a:rPr sz="900" b="0">
                <a:solidFill>
                  <a:srgbClr val="FFFFFF"/>
                </a:solidFill>
                <a:latin typeface="Arial"/>
              </a:rPr>
              <a:t>Pasajeros prom.: 6 pasajeros</a:t>
            </a:r>
          </a:p>
        </p:txBody>
      </p:sp>
      <p:sp>
        <p:nvSpPr>
          <p:cNvPr id="20" name="TextBox 19"/>
          <p:cNvSpPr txBox="1"/>
          <p:nvPr/>
        </p:nvSpPr>
        <p:spPr>
          <a:xfrm>
            <a:off x="3383280" y="2944368"/>
            <a:ext cx="2514600" cy="256032"/>
          </a:xfrm>
          <a:prstGeom prst="rect">
            <a:avLst/>
          </a:prstGeom>
          <a:noFill/>
        </p:spPr>
        <p:txBody>
          <a:bodyPr wrap="square">
            <a:spAutoFit/>
          </a:bodyPr>
          <a:lstStyle/>
          <a:p>
            <a:pPr algn="l"/>
            <a:r>
              <a:rPr sz="900" b="0">
                <a:solidFill>
                  <a:srgbClr val="FFFFFF"/>
                </a:solidFill>
                <a:latin typeface="Arial"/>
              </a:rPr>
              <a:t>Costo prom.: 100,000 creditos</a:t>
            </a:r>
          </a:p>
        </p:txBody>
      </p:sp>
      <p:sp>
        <p:nvSpPr>
          <p:cNvPr id="21" name="TextBox 20"/>
          <p:cNvSpPr txBox="1"/>
          <p:nvPr/>
        </p:nvSpPr>
        <p:spPr>
          <a:xfrm>
            <a:off x="3383280" y="3291840"/>
            <a:ext cx="2514600" cy="685800"/>
          </a:xfrm>
          <a:prstGeom prst="rect">
            <a:avLst/>
          </a:prstGeom>
          <a:noFill/>
        </p:spPr>
        <p:txBody>
          <a:bodyPr wrap="square">
            <a:spAutoFit/>
          </a:bodyPr>
          <a:lstStyle/>
          <a:p>
            <a:pPr algn="l"/>
            <a:r>
              <a:rPr sz="850" b="0">
                <a:solidFill>
                  <a:srgbClr val="FFFFFF"/>
                </a:solidFill>
                <a:latin typeface="Arial"/>
              </a:rPr>
              <a:t>Mayor agilidad y menor costo por pasajero.
Ideal para misiones encubiertas y flota distribuida.</a:t>
            </a:r>
          </a:p>
        </p:txBody>
      </p:sp>
      <p:sp>
        <p:nvSpPr>
          <p:cNvPr id="22" name="Rectangle 21"/>
          <p:cNvSpPr/>
          <p:nvPr/>
        </p:nvSpPr>
        <p:spPr>
          <a:xfrm>
            <a:off x="6126480" y="1600200"/>
            <a:ext cx="2697480" cy="411480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0" y="1691640"/>
            <a:ext cx="2514600" cy="411480"/>
          </a:xfrm>
          <a:prstGeom prst="rect">
            <a:avLst/>
          </a:prstGeom>
          <a:noFill/>
        </p:spPr>
        <p:txBody>
          <a:bodyPr wrap="square">
            <a:spAutoFit/>
          </a:bodyPr>
          <a:lstStyle/>
          <a:p>
            <a:pPr algn="l"/>
            <a:r>
              <a:rPr sz="1100" b="1">
                <a:solidFill>
                  <a:srgbClr val="1B2A4A"/>
                </a:solidFill>
                <a:latin typeface="Arial"/>
              </a:rPr>
              <a:t>Corbeta</a:t>
            </a:r>
          </a:p>
        </p:txBody>
      </p:sp>
      <p:sp>
        <p:nvSpPr>
          <p:cNvPr id="24" name="TextBox 23"/>
          <p:cNvSpPr txBox="1"/>
          <p:nvPr/>
        </p:nvSpPr>
        <p:spPr>
          <a:xfrm>
            <a:off x="6217920" y="2103120"/>
            <a:ext cx="2514600" cy="274320"/>
          </a:xfrm>
          <a:prstGeom prst="rect">
            <a:avLst/>
          </a:prstGeom>
          <a:noFill/>
        </p:spPr>
        <p:txBody>
          <a:bodyPr wrap="square">
            <a:spAutoFit/>
          </a:bodyPr>
          <a:lstStyle/>
          <a:p>
            <a:pPr algn="l"/>
            <a:r>
              <a:rPr sz="900" b="0">
                <a:solidFill>
                  <a:srgbClr val="1B2A4A"/>
                </a:solidFill>
                <a:latin typeface="Arial"/>
              </a:rPr>
              <a:t>Puntaje Estrategico: 0.45</a:t>
            </a:r>
          </a:p>
        </p:txBody>
      </p:sp>
      <p:sp>
        <p:nvSpPr>
          <p:cNvPr id="25" name="Rectangle 24"/>
          <p:cNvSpPr/>
          <p:nvPr/>
        </p:nvSpPr>
        <p:spPr>
          <a:xfrm>
            <a:off x="6217920" y="2423160"/>
            <a:ext cx="2286000" cy="164592"/>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2423160"/>
            <a:ext cx="1017270" cy="16459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2697480"/>
            <a:ext cx="2514600" cy="256032"/>
          </a:xfrm>
          <a:prstGeom prst="rect">
            <a:avLst/>
          </a:prstGeom>
          <a:noFill/>
        </p:spPr>
        <p:txBody>
          <a:bodyPr wrap="square">
            <a:spAutoFit/>
          </a:bodyPr>
          <a:lstStyle/>
          <a:p>
            <a:pPr algn="l"/>
            <a:r>
              <a:rPr sz="900" b="0">
                <a:solidFill>
                  <a:srgbClr val="1B2A4A"/>
                </a:solidFill>
                <a:latin typeface="Arial"/>
              </a:rPr>
              <a:t>Pasajeros prom.: 30 pasajeros</a:t>
            </a:r>
          </a:p>
        </p:txBody>
      </p:sp>
      <p:sp>
        <p:nvSpPr>
          <p:cNvPr id="28" name="TextBox 27"/>
          <p:cNvSpPr txBox="1"/>
          <p:nvPr/>
        </p:nvSpPr>
        <p:spPr>
          <a:xfrm>
            <a:off x="6217920" y="2944368"/>
            <a:ext cx="2514600" cy="256032"/>
          </a:xfrm>
          <a:prstGeom prst="rect">
            <a:avLst/>
          </a:prstGeom>
          <a:noFill/>
        </p:spPr>
        <p:txBody>
          <a:bodyPr wrap="square">
            <a:spAutoFit/>
          </a:bodyPr>
          <a:lstStyle/>
          <a:p>
            <a:pPr algn="l"/>
            <a:r>
              <a:rPr sz="900" b="0">
                <a:solidFill>
                  <a:srgbClr val="1B2A4A"/>
                </a:solidFill>
                <a:latin typeface="Arial"/>
              </a:rPr>
              <a:t>Costo prom.: 3.5 millones creditos</a:t>
            </a:r>
          </a:p>
        </p:txBody>
      </p:sp>
      <p:sp>
        <p:nvSpPr>
          <p:cNvPr id="29" name="TextBox 28"/>
          <p:cNvSpPr txBox="1"/>
          <p:nvPr/>
        </p:nvSpPr>
        <p:spPr>
          <a:xfrm>
            <a:off x="6217920" y="3291840"/>
            <a:ext cx="2514600" cy="685800"/>
          </a:xfrm>
          <a:prstGeom prst="rect">
            <a:avLst/>
          </a:prstGeom>
          <a:noFill/>
        </p:spPr>
        <p:txBody>
          <a:bodyPr wrap="square">
            <a:spAutoFit/>
          </a:bodyPr>
          <a:lstStyle/>
          <a:p>
            <a:pPr algn="l"/>
            <a:r>
              <a:rPr sz="850" b="0">
                <a:solidFill>
                  <a:srgbClr val="1B2A4A"/>
                </a:solidFill>
                <a:latin typeface="Arial"/>
              </a:rPr>
              <a:t>Opcion equilibrada. Costo moderado
y buena velocidad de desplazamiento.</a:t>
            </a:r>
          </a:p>
        </p:txBody>
      </p:sp>
      <p:sp>
        <p:nvSpPr>
          <p:cNvPr id="30" name="Rectangle 29"/>
          <p:cNvSpPr/>
          <p:nvPr/>
        </p:nvSpPr>
        <p:spPr>
          <a:xfrm>
            <a:off x="8961120" y="1600200"/>
            <a:ext cx="2697480" cy="411480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2560" y="1691640"/>
            <a:ext cx="2514600" cy="411480"/>
          </a:xfrm>
          <a:prstGeom prst="rect">
            <a:avLst/>
          </a:prstGeom>
          <a:noFill/>
        </p:spPr>
        <p:txBody>
          <a:bodyPr wrap="square">
            <a:spAutoFit/>
          </a:bodyPr>
          <a:lstStyle/>
          <a:p>
            <a:pPr algn="l"/>
            <a:r>
              <a:rPr sz="1100" b="1">
                <a:solidFill>
                  <a:srgbClr val="1B2A4A"/>
                </a:solidFill>
                <a:latin typeface="Arial"/>
              </a:rPr>
              <a:t>Transporte Medio</a:t>
            </a:r>
          </a:p>
        </p:txBody>
      </p:sp>
      <p:sp>
        <p:nvSpPr>
          <p:cNvPr id="32" name="TextBox 31"/>
          <p:cNvSpPr txBox="1"/>
          <p:nvPr/>
        </p:nvSpPr>
        <p:spPr>
          <a:xfrm>
            <a:off x="9052560" y="2103120"/>
            <a:ext cx="2514600" cy="274320"/>
          </a:xfrm>
          <a:prstGeom prst="rect">
            <a:avLst/>
          </a:prstGeom>
          <a:noFill/>
        </p:spPr>
        <p:txBody>
          <a:bodyPr wrap="square">
            <a:spAutoFit/>
          </a:bodyPr>
          <a:lstStyle/>
          <a:p>
            <a:pPr algn="l"/>
            <a:r>
              <a:rPr sz="900" b="0">
                <a:solidFill>
                  <a:srgbClr val="1B2A4A"/>
                </a:solidFill>
                <a:latin typeface="Arial"/>
              </a:rPr>
              <a:t>Puntaje Estrategico: 0.30</a:t>
            </a:r>
          </a:p>
        </p:txBody>
      </p:sp>
      <p:sp>
        <p:nvSpPr>
          <p:cNvPr id="33" name="Rectangle 32"/>
          <p:cNvSpPr/>
          <p:nvPr/>
        </p:nvSpPr>
        <p:spPr>
          <a:xfrm>
            <a:off x="9052560" y="2423160"/>
            <a:ext cx="2286000" cy="164592"/>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052560" y="2423160"/>
            <a:ext cx="685800" cy="16459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52560" y="2697480"/>
            <a:ext cx="2514600" cy="256032"/>
          </a:xfrm>
          <a:prstGeom prst="rect">
            <a:avLst/>
          </a:prstGeom>
          <a:noFill/>
        </p:spPr>
        <p:txBody>
          <a:bodyPr wrap="square">
            <a:spAutoFit/>
          </a:bodyPr>
          <a:lstStyle/>
          <a:p>
            <a:pPr algn="l"/>
            <a:r>
              <a:rPr sz="900" b="0">
                <a:solidFill>
                  <a:srgbClr val="1B2A4A"/>
                </a:solidFill>
                <a:latin typeface="Arial"/>
              </a:rPr>
              <a:t>Pasajeros prom.: 90 pasajeros</a:t>
            </a:r>
          </a:p>
        </p:txBody>
      </p:sp>
      <p:sp>
        <p:nvSpPr>
          <p:cNvPr id="36" name="TextBox 35"/>
          <p:cNvSpPr txBox="1"/>
          <p:nvPr/>
        </p:nvSpPr>
        <p:spPr>
          <a:xfrm>
            <a:off x="9052560" y="2944368"/>
            <a:ext cx="2514600" cy="256032"/>
          </a:xfrm>
          <a:prstGeom prst="rect">
            <a:avLst/>
          </a:prstGeom>
          <a:noFill/>
        </p:spPr>
        <p:txBody>
          <a:bodyPr wrap="square">
            <a:spAutoFit/>
          </a:bodyPr>
          <a:lstStyle/>
          <a:p>
            <a:pPr algn="l"/>
            <a:r>
              <a:rPr sz="900" b="0">
                <a:solidFill>
                  <a:srgbClr val="1B2A4A"/>
                </a:solidFill>
                <a:latin typeface="Arial"/>
              </a:rPr>
              <a:t>Costo prom.: 3 millones creditos</a:t>
            </a:r>
          </a:p>
        </p:txBody>
      </p:sp>
      <p:sp>
        <p:nvSpPr>
          <p:cNvPr id="37" name="TextBox 36"/>
          <p:cNvSpPr txBox="1"/>
          <p:nvPr/>
        </p:nvSpPr>
        <p:spPr>
          <a:xfrm>
            <a:off x="9052560" y="3291840"/>
            <a:ext cx="2514600" cy="685800"/>
          </a:xfrm>
          <a:prstGeom prst="rect">
            <a:avLst/>
          </a:prstGeom>
          <a:noFill/>
        </p:spPr>
        <p:txBody>
          <a:bodyPr wrap="square">
            <a:spAutoFit/>
          </a:bodyPr>
          <a:lstStyle/>
          <a:p>
            <a:pPr algn="l"/>
            <a:r>
              <a:rPr sz="850" b="0">
                <a:solidFill>
                  <a:srgbClr val="1B2A4A"/>
                </a:solidFill>
                <a:latin typeface="Arial"/>
              </a:rPr>
              <a:t>Buena capacidad a costo moderado,
pero hiperpropulsion lenta limita su alcance.</a:t>
            </a:r>
          </a:p>
        </p:txBody>
      </p:sp>
      <p:sp>
        <p:nvSpPr>
          <p:cNvPr id="38" name="Rectangle 37"/>
          <p:cNvSpPr/>
          <p:nvPr/>
        </p:nvSpPr>
        <p:spPr>
          <a:xfrm>
            <a:off x="457200" y="5806440"/>
            <a:ext cx="11247120" cy="411480"/>
          </a:xfrm>
          <a:prstGeom prst="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4360" y="5870448"/>
            <a:ext cx="10972800" cy="320040"/>
          </a:xfrm>
          <a:prstGeom prst="rect">
            <a:avLst/>
          </a:prstGeom>
          <a:noFill/>
        </p:spPr>
        <p:txBody>
          <a:bodyPr wrap="square">
            <a:spAutoFit/>
          </a:bodyPr>
          <a:lstStyle/>
          <a:p>
            <a:pPr algn="l"/>
            <a:r>
              <a:rPr sz="850" b="0">
                <a:solidFill>
                  <a:srgbClr val="8C9BAA"/>
                </a:solidFill>
                <a:latin typeface="Arial"/>
              </a:rPr>
              <a:t>Metodologia del puntaje: 50% capacidad de pasajeros + 30% menor costo + 20% mayor velocidad subluminica (cada metrica normalizada de 0 a 1)</a:t>
            </a:r>
          </a:p>
        </p:txBody>
      </p:sp>
      <p:sp>
        <p:nvSpPr>
          <p:cNvPr id="40" name="Rectangle 39"/>
          <p:cNvSpPr/>
          <p:nvPr/>
        </p:nvSpPr>
        <p:spPr>
          <a:xfrm>
            <a:off x="457200" y="6263640"/>
            <a:ext cx="11247120" cy="457200"/>
          </a:xfrm>
          <a:prstGeom prst="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4360" y="6327648"/>
            <a:ext cx="10972800" cy="365760"/>
          </a:xfrm>
          <a:prstGeom prst="rect">
            <a:avLst/>
          </a:prstGeom>
          <a:noFill/>
        </p:spPr>
        <p:txBody>
          <a:bodyPr wrap="square">
            <a:spAutoFit/>
          </a:bodyPr>
          <a:lstStyle/>
          <a:p>
            <a:pPr algn="l"/>
            <a:r>
              <a:rPr sz="900" b="0">
                <a:solidFill>
                  <a:srgbClr val="1B2A4A"/>
                </a:solidFill>
                <a:latin typeface="Arial"/>
              </a:rPr>
              <a:t>RECOMENDACION: Portafolio balanceado: 1 Dreadnought para operaciones masivas + flota de Cargueros Ligeros para presencia distribuida. Evitar concentrar el 100% del presupuesto en una sola clase.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8229600" cy="320040"/>
          </a:xfrm>
          <a:prstGeom prst="rect">
            <a:avLst/>
          </a:prstGeom>
          <a:noFill/>
        </p:spPr>
        <p:txBody>
          <a:bodyPr wrap="square">
            <a:spAutoFit/>
          </a:bodyPr>
          <a:lstStyle/>
          <a:p>
            <a:pPr algn="l"/>
            <a:r>
              <a:rPr sz="900" b="1">
                <a:solidFill>
                  <a:srgbClr val="C0392B"/>
                </a:solidFill>
                <a:latin typeface="Arial"/>
              </a:rPr>
              <a:t>P4 | HALLAZGO CRITICO — ANALISIS LIBRE</a:t>
            </a:r>
          </a:p>
        </p:txBody>
      </p:sp>
      <p:sp>
        <p:nvSpPr>
          <p:cNvPr id="4" name="TextBox 3"/>
          <p:cNvSpPr txBox="1"/>
          <p:nvPr/>
        </p:nvSpPr>
        <p:spPr>
          <a:xfrm>
            <a:off x="457200" y="502920"/>
            <a:ext cx="11247120" cy="914400"/>
          </a:xfrm>
          <a:prstGeom prst="rect">
            <a:avLst/>
          </a:prstGeom>
          <a:noFill/>
        </p:spPr>
        <p:txBody>
          <a:bodyPr wrap="square">
            <a:spAutoFit/>
          </a:bodyPr>
          <a:lstStyle/>
          <a:p>
            <a:pPr algn="l"/>
            <a:r>
              <a:rPr sz="1800" b="1" dirty="0">
                <a:solidFill>
                  <a:srgbClr val="1B2A4A"/>
                </a:solidFill>
                <a:latin typeface="Arial"/>
              </a:rPr>
              <a:t>La Resistencia No </a:t>
            </a:r>
            <a:r>
              <a:rPr sz="1800" b="1" dirty="0" err="1">
                <a:solidFill>
                  <a:srgbClr val="1B2A4A"/>
                </a:solidFill>
                <a:latin typeface="Arial"/>
              </a:rPr>
              <a:t>Puede</a:t>
            </a:r>
            <a:r>
              <a:rPr sz="1800" b="1" dirty="0">
                <a:solidFill>
                  <a:srgbClr val="1B2A4A"/>
                </a:solidFill>
                <a:latin typeface="Arial"/>
              </a:rPr>
              <a:t> </a:t>
            </a:r>
            <a:r>
              <a:rPr sz="1800" b="1" dirty="0" err="1">
                <a:solidFill>
                  <a:srgbClr val="1B2A4A"/>
                </a:solidFill>
                <a:latin typeface="Arial"/>
              </a:rPr>
              <a:t>Ganar</a:t>
            </a:r>
            <a:r>
              <a:rPr sz="1800" b="1" dirty="0">
                <a:solidFill>
                  <a:srgbClr val="1B2A4A"/>
                </a:solidFill>
                <a:latin typeface="Arial"/>
              </a:rPr>
              <a:t> </a:t>
            </a:r>
            <a:r>
              <a:rPr sz="1800" b="1" dirty="0" err="1">
                <a:solidFill>
                  <a:srgbClr val="1B2A4A"/>
                </a:solidFill>
                <a:latin typeface="Arial"/>
              </a:rPr>
              <a:t>una</a:t>
            </a:r>
            <a:r>
              <a:rPr sz="1800" b="1" dirty="0">
                <a:solidFill>
                  <a:srgbClr val="1B2A4A"/>
                </a:solidFill>
                <a:latin typeface="Arial"/>
              </a:rPr>
              <a:t> Guerra de </a:t>
            </a:r>
            <a:r>
              <a:rPr sz="1800" b="1" dirty="0" err="1">
                <a:solidFill>
                  <a:srgbClr val="1B2A4A"/>
                </a:solidFill>
                <a:latin typeface="Arial"/>
              </a:rPr>
              <a:t>Desgaste</a:t>
            </a:r>
            <a:r>
              <a:rPr sz="1800" b="1" dirty="0">
                <a:solidFill>
                  <a:srgbClr val="1B2A4A"/>
                </a:solidFill>
                <a:latin typeface="Arial"/>
              </a:rPr>
              <a:t>:
La Flota </a:t>
            </a:r>
            <a:r>
              <a:rPr sz="1800" b="1" dirty="0" err="1">
                <a:solidFill>
                  <a:srgbClr val="1B2A4A"/>
                </a:solidFill>
                <a:latin typeface="Arial"/>
              </a:rPr>
              <a:t>Puede</a:t>
            </a:r>
            <a:r>
              <a:rPr sz="1800" b="1" dirty="0">
                <a:solidFill>
                  <a:srgbClr val="1B2A4A"/>
                </a:solidFill>
                <a:latin typeface="Arial"/>
              </a:rPr>
              <a:t> </a:t>
            </a:r>
            <a:r>
              <a:rPr sz="1800" b="1" dirty="0" err="1">
                <a:solidFill>
                  <a:srgbClr val="1B2A4A"/>
                </a:solidFill>
                <a:latin typeface="Arial"/>
              </a:rPr>
              <a:t>Transportar</a:t>
            </a:r>
            <a:r>
              <a:rPr sz="1800" b="1" dirty="0">
                <a:solidFill>
                  <a:srgbClr val="1B2A4A"/>
                </a:solidFill>
                <a:latin typeface="Arial"/>
              </a:rPr>
              <a:t> Solo </a:t>
            </a:r>
            <a:r>
              <a:rPr sz="1800" b="1" dirty="0" err="1">
                <a:solidFill>
                  <a:srgbClr val="1B2A4A"/>
                </a:solidFill>
                <a:latin typeface="Arial"/>
              </a:rPr>
              <a:t>el</a:t>
            </a:r>
            <a:r>
              <a:rPr sz="1800" b="1" dirty="0">
                <a:solidFill>
                  <a:srgbClr val="1B2A4A"/>
                </a:solidFill>
                <a:latin typeface="Arial"/>
              </a:rPr>
              <a:t> 0.003% de la </a:t>
            </a:r>
            <a:r>
              <a:rPr sz="1800" b="1" dirty="0" err="1">
                <a:solidFill>
                  <a:srgbClr val="1B2A4A"/>
                </a:solidFill>
                <a:latin typeface="Arial"/>
              </a:rPr>
              <a:t>Poblacion</a:t>
            </a:r>
            <a:r>
              <a:rPr sz="1800" b="1" dirty="0">
                <a:solidFill>
                  <a:srgbClr val="1B2A4A"/>
                </a:solidFill>
                <a:latin typeface="Arial"/>
              </a:rPr>
              <a:t> Galactica.</a:t>
            </a:r>
          </a:p>
        </p:txBody>
      </p:sp>
      <p:cxnSp>
        <p:nvCxnSpPr>
          <p:cNvPr id="5" name="Connector 4"/>
          <p:cNvCxnSpPr/>
          <p:nvPr/>
        </p:nvCxnSpPr>
        <p:spPr>
          <a:xfrm>
            <a:off x="457200" y="1463040"/>
            <a:ext cx="11274552"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645920"/>
            <a:ext cx="2560320" cy="1188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755648"/>
            <a:ext cx="2286000" cy="640080"/>
          </a:xfrm>
          <a:prstGeom prst="rect">
            <a:avLst/>
          </a:prstGeom>
          <a:noFill/>
        </p:spPr>
        <p:txBody>
          <a:bodyPr wrap="square">
            <a:spAutoFit/>
          </a:bodyPr>
          <a:lstStyle/>
          <a:p>
            <a:pPr algn="ctr"/>
            <a:r>
              <a:rPr sz="2400" b="1">
                <a:solidFill>
                  <a:srgbClr val="FFFFFF"/>
                </a:solidFill>
                <a:latin typeface="Arial"/>
              </a:rPr>
              <a:t>1.14 Billones</a:t>
            </a:r>
          </a:p>
        </p:txBody>
      </p:sp>
      <p:sp>
        <p:nvSpPr>
          <p:cNvPr id="8" name="TextBox 7"/>
          <p:cNvSpPr txBox="1"/>
          <p:nvPr/>
        </p:nvSpPr>
        <p:spPr>
          <a:xfrm>
            <a:off x="548640" y="2377440"/>
            <a:ext cx="2377440" cy="365760"/>
          </a:xfrm>
          <a:prstGeom prst="rect">
            <a:avLst/>
          </a:prstGeom>
          <a:noFill/>
        </p:spPr>
        <p:txBody>
          <a:bodyPr wrap="square">
            <a:spAutoFit/>
          </a:bodyPr>
          <a:lstStyle/>
          <a:p>
            <a:pPr algn="ctr"/>
            <a:r>
              <a:rPr sz="900" b="0" dirty="0" err="1">
                <a:solidFill>
                  <a:schemeClr val="bg1">
                    <a:lumMod val="65000"/>
                  </a:schemeClr>
                </a:solidFill>
                <a:latin typeface="Arial"/>
              </a:rPr>
              <a:t>Habitantes</a:t>
            </a:r>
            <a:r>
              <a:rPr sz="900" b="0" dirty="0">
                <a:solidFill>
                  <a:schemeClr val="bg1">
                    <a:lumMod val="65000"/>
                  </a:schemeClr>
                </a:solidFill>
                <a:latin typeface="Arial"/>
              </a:rPr>
              <a:t> </a:t>
            </a:r>
            <a:r>
              <a:rPr sz="900" b="0" dirty="0" err="1">
                <a:solidFill>
                  <a:schemeClr val="bg1">
                    <a:lumMod val="65000"/>
                  </a:schemeClr>
                </a:solidFill>
                <a:latin typeface="Arial"/>
              </a:rPr>
              <a:t>en</a:t>
            </a:r>
            <a:r>
              <a:rPr sz="900" b="0" dirty="0">
                <a:solidFill>
                  <a:schemeClr val="bg1">
                    <a:lumMod val="65000"/>
                  </a:schemeClr>
                </a:solidFill>
                <a:latin typeface="Arial"/>
              </a:rPr>
              <a:t> </a:t>
            </a:r>
            <a:r>
              <a:rPr sz="900" b="0" dirty="0" err="1">
                <a:solidFill>
                  <a:schemeClr val="bg1">
                    <a:lumMod val="65000"/>
                  </a:schemeClr>
                </a:solidFill>
                <a:latin typeface="Arial"/>
              </a:rPr>
              <a:t>planetas</a:t>
            </a:r>
            <a:r>
              <a:rPr sz="900" b="0" dirty="0">
                <a:solidFill>
                  <a:schemeClr val="bg1">
                    <a:lumMod val="65000"/>
                  </a:schemeClr>
                </a:solidFill>
                <a:latin typeface="Arial"/>
              </a:rPr>
              <a:t> </a:t>
            </a:r>
            <a:r>
              <a:rPr sz="900" b="0" dirty="0" err="1">
                <a:solidFill>
                  <a:schemeClr val="bg1">
                    <a:lumMod val="65000"/>
                  </a:schemeClr>
                </a:solidFill>
                <a:latin typeface="Arial"/>
              </a:rPr>
              <a:t>conocidos</a:t>
            </a:r>
            <a:r>
              <a:rPr sz="900" b="0" dirty="0">
                <a:solidFill>
                  <a:schemeClr val="bg1">
                    <a:lumMod val="65000"/>
                  </a:schemeClr>
                </a:solidFill>
                <a:latin typeface="Arial"/>
              </a:rPr>
              <a:t> de la </a:t>
            </a:r>
            <a:r>
              <a:rPr sz="900" b="0" dirty="0" err="1">
                <a:solidFill>
                  <a:schemeClr val="bg1">
                    <a:lumMod val="65000"/>
                  </a:schemeClr>
                </a:solidFill>
                <a:latin typeface="Arial"/>
              </a:rPr>
              <a:t>galaxia</a:t>
            </a:r>
            <a:endParaRPr sz="900" b="0" dirty="0">
              <a:solidFill>
                <a:schemeClr val="bg1">
                  <a:lumMod val="65000"/>
                </a:schemeClr>
              </a:solidFill>
              <a:latin typeface="Arial"/>
            </a:endParaRPr>
          </a:p>
        </p:txBody>
      </p:sp>
      <p:sp>
        <p:nvSpPr>
          <p:cNvPr id="9" name="Rectangle 8"/>
          <p:cNvSpPr/>
          <p:nvPr/>
        </p:nvSpPr>
        <p:spPr>
          <a:xfrm>
            <a:off x="3291840" y="1645920"/>
            <a:ext cx="2560320" cy="118872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755648"/>
            <a:ext cx="2286000" cy="640080"/>
          </a:xfrm>
          <a:prstGeom prst="rect">
            <a:avLst/>
          </a:prstGeom>
          <a:noFill/>
        </p:spPr>
        <p:txBody>
          <a:bodyPr wrap="square">
            <a:spAutoFit/>
          </a:bodyPr>
          <a:lstStyle/>
          <a:p>
            <a:pPr algn="ctr"/>
            <a:r>
              <a:rPr sz="2400" b="1">
                <a:solidFill>
                  <a:srgbClr val="1B2A4A"/>
                </a:solidFill>
                <a:latin typeface="Arial"/>
              </a:rPr>
              <a:t>38,126</a:t>
            </a:r>
          </a:p>
        </p:txBody>
      </p:sp>
      <p:sp>
        <p:nvSpPr>
          <p:cNvPr id="11" name="TextBox 10"/>
          <p:cNvSpPr txBox="1"/>
          <p:nvPr/>
        </p:nvSpPr>
        <p:spPr>
          <a:xfrm>
            <a:off x="3383280" y="2377440"/>
            <a:ext cx="2377440" cy="365760"/>
          </a:xfrm>
          <a:prstGeom prst="rect">
            <a:avLst/>
          </a:prstGeom>
          <a:noFill/>
        </p:spPr>
        <p:txBody>
          <a:bodyPr wrap="square">
            <a:spAutoFit/>
          </a:bodyPr>
          <a:lstStyle/>
          <a:p>
            <a:pPr algn="ctr"/>
            <a:r>
              <a:rPr sz="900" b="0" dirty="0" err="1">
                <a:latin typeface="Arial"/>
              </a:rPr>
              <a:t>Pasajeros</a:t>
            </a:r>
            <a:r>
              <a:rPr sz="900" b="0" dirty="0">
                <a:latin typeface="Arial"/>
              </a:rPr>
              <a:t> </a:t>
            </a:r>
            <a:r>
              <a:rPr sz="900" b="0" dirty="0" err="1">
                <a:latin typeface="Arial"/>
              </a:rPr>
              <a:t>que</a:t>
            </a:r>
            <a:r>
              <a:rPr sz="900" b="0" dirty="0">
                <a:latin typeface="Arial"/>
              </a:rPr>
              <a:t> </a:t>
            </a:r>
            <a:r>
              <a:rPr sz="900" b="0" dirty="0" err="1">
                <a:latin typeface="Arial"/>
              </a:rPr>
              <a:t>cabe</a:t>
            </a:r>
            <a:r>
              <a:rPr sz="900" b="0" dirty="0">
                <a:latin typeface="Arial"/>
              </a:rPr>
              <a:t> </a:t>
            </a:r>
            <a:r>
              <a:rPr sz="900" b="0" dirty="0" err="1">
                <a:latin typeface="Arial"/>
              </a:rPr>
              <a:t>toda</a:t>
            </a:r>
            <a:r>
              <a:rPr sz="900" b="0" dirty="0">
                <a:latin typeface="Arial"/>
              </a:rPr>
              <a:t> la </a:t>
            </a:r>
            <a:r>
              <a:rPr sz="900" b="0" dirty="0" err="1">
                <a:latin typeface="Arial"/>
              </a:rPr>
              <a:t>flota</a:t>
            </a:r>
            <a:r>
              <a:rPr sz="900" b="0" dirty="0">
                <a:latin typeface="Arial"/>
              </a:rPr>
              <a:t> (</a:t>
            </a:r>
            <a:r>
              <a:rPr sz="900" b="0" dirty="0" err="1">
                <a:latin typeface="Arial"/>
              </a:rPr>
              <a:t>todas</a:t>
            </a:r>
            <a:r>
              <a:rPr sz="900" b="0" dirty="0">
                <a:latin typeface="Arial"/>
              </a:rPr>
              <a:t> las naves juntas)</a:t>
            </a:r>
          </a:p>
        </p:txBody>
      </p:sp>
      <p:sp>
        <p:nvSpPr>
          <p:cNvPr id="12" name="Rectangle 11"/>
          <p:cNvSpPr/>
          <p:nvPr/>
        </p:nvSpPr>
        <p:spPr>
          <a:xfrm>
            <a:off x="6126480" y="1645920"/>
            <a:ext cx="2560320" cy="1188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1755648"/>
            <a:ext cx="2286000" cy="640080"/>
          </a:xfrm>
          <a:prstGeom prst="rect">
            <a:avLst/>
          </a:prstGeom>
          <a:noFill/>
        </p:spPr>
        <p:txBody>
          <a:bodyPr wrap="square">
            <a:spAutoFit/>
          </a:bodyPr>
          <a:lstStyle/>
          <a:p>
            <a:pPr algn="ctr"/>
            <a:r>
              <a:rPr sz="2400" b="1">
                <a:solidFill>
                  <a:srgbClr val="C9A84C"/>
                </a:solidFill>
                <a:latin typeface="Arial"/>
              </a:rPr>
              <a:t>29.9 Millones</a:t>
            </a:r>
          </a:p>
        </p:txBody>
      </p:sp>
      <p:sp>
        <p:nvSpPr>
          <p:cNvPr id="14" name="TextBox 13"/>
          <p:cNvSpPr txBox="1"/>
          <p:nvPr/>
        </p:nvSpPr>
        <p:spPr>
          <a:xfrm>
            <a:off x="6217920" y="2377440"/>
            <a:ext cx="2377440" cy="365760"/>
          </a:xfrm>
          <a:prstGeom prst="rect">
            <a:avLst/>
          </a:prstGeom>
          <a:noFill/>
        </p:spPr>
        <p:txBody>
          <a:bodyPr wrap="square">
            <a:spAutoFit/>
          </a:bodyPr>
          <a:lstStyle/>
          <a:p>
            <a:pPr algn="ctr"/>
            <a:r>
              <a:rPr sz="900" b="0" dirty="0">
                <a:solidFill>
                  <a:schemeClr val="bg1">
                    <a:lumMod val="65000"/>
                  </a:schemeClr>
                </a:solidFill>
                <a:latin typeface="Arial"/>
              </a:rPr>
              <a:t>Viajes </a:t>
            </a:r>
            <a:r>
              <a:rPr sz="900" b="0" dirty="0" err="1">
                <a:solidFill>
                  <a:schemeClr val="bg1">
                    <a:lumMod val="65000"/>
                  </a:schemeClr>
                </a:solidFill>
                <a:latin typeface="Arial"/>
              </a:rPr>
              <a:t>necesarios</a:t>
            </a:r>
            <a:r>
              <a:rPr sz="900" b="0" dirty="0">
                <a:solidFill>
                  <a:schemeClr val="bg1">
                    <a:lumMod val="65000"/>
                  </a:schemeClr>
                </a:solidFill>
                <a:latin typeface="Arial"/>
              </a:rPr>
              <a:t> para </a:t>
            </a:r>
            <a:r>
              <a:rPr sz="900" b="0" dirty="0" err="1">
                <a:solidFill>
                  <a:schemeClr val="bg1">
                    <a:lumMod val="65000"/>
                  </a:schemeClr>
                </a:solidFill>
                <a:latin typeface="Arial"/>
              </a:rPr>
              <a:t>evacuar</a:t>
            </a:r>
            <a:r>
              <a:rPr sz="900" b="0" dirty="0">
                <a:solidFill>
                  <a:schemeClr val="bg1">
                    <a:lumMod val="65000"/>
                  </a:schemeClr>
                </a:solidFill>
                <a:latin typeface="Arial"/>
              </a:rPr>
              <a:t> </a:t>
            </a:r>
            <a:r>
              <a:rPr sz="900" b="0" dirty="0" err="1">
                <a:solidFill>
                  <a:schemeClr val="bg1">
                    <a:lumMod val="65000"/>
                  </a:schemeClr>
                </a:solidFill>
                <a:latin typeface="Arial"/>
              </a:rPr>
              <a:t>todos</a:t>
            </a:r>
            <a:r>
              <a:rPr sz="900" b="0" dirty="0">
                <a:solidFill>
                  <a:schemeClr val="bg1">
                    <a:lumMod val="65000"/>
                  </a:schemeClr>
                </a:solidFill>
                <a:latin typeface="Arial"/>
              </a:rPr>
              <a:t> </a:t>
            </a:r>
            <a:r>
              <a:rPr sz="900" b="0" dirty="0" err="1">
                <a:solidFill>
                  <a:schemeClr val="bg1">
                    <a:lumMod val="65000"/>
                  </a:schemeClr>
                </a:solidFill>
                <a:latin typeface="Arial"/>
              </a:rPr>
              <a:t>los</a:t>
            </a:r>
            <a:r>
              <a:rPr sz="900" b="0" dirty="0">
                <a:solidFill>
                  <a:schemeClr val="bg1">
                    <a:lumMod val="65000"/>
                  </a:schemeClr>
                </a:solidFill>
                <a:latin typeface="Arial"/>
              </a:rPr>
              <a:t> </a:t>
            </a:r>
            <a:r>
              <a:rPr sz="900" b="0" dirty="0" err="1">
                <a:solidFill>
                  <a:schemeClr val="bg1">
                    <a:lumMod val="65000"/>
                  </a:schemeClr>
                </a:solidFill>
                <a:latin typeface="Arial"/>
              </a:rPr>
              <a:t>planetas</a:t>
            </a:r>
            <a:endParaRPr sz="900" b="0" dirty="0">
              <a:solidFill>
                <a:schemeClr val="bg1">
                  <a:lumMod val="65000"/>
                </a:schemeClr>
              </a:solidFill>
              <a:latin typeface="Arial"/>
            </a:endParaRPr>
          </a:p>
        </p:txBody>
      </p:sp>
      <p:sp>
        <p:nvSpPr>
          <p:cNvPr id="15" name="Rectangle 14"/>
          <p:cNvSpPr/>
          <p:nvPr/>
        </p:nvSpPr>
        <p:spPr>
          <a:xfrm>
            <a:off x="8961120" y="1645920"/>
            <a:ext cx="2560320" cy="1188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98280" y="1755648"/>
            <a:ext cx="2286000" cy="640080"/>
          </a:xfrm>
          <a:prstGeom prst="rect">
            <a:avLst/>
          </a:prstGeom>
          <a:noFill/>
        </p:spPr>
        <p:txBody>
          <a:bodyPr wrap="square">
            <a:spAutoFit/>
          </a:bodyPr>
          <a:lstStyle/>
          <a:p>
            <a:pPr algn="ctr"/>
            <a:r>
              <a:rPr sz="2400" b="1">
                <a:solidFill>
                  <a:srgbClr val="FFFFFF"/>
                </a:solidFill>
                <a:latin typeface="Arial"/>
              </a:rPr>
              <a:t>99.7%</a:t>
            </a:r>
          </a:p>
        </p:txBody>
      </p:sp>
      <p:sp>
        <p:nvSpPr>
          <p:cNvPr id="17" name="TextBox 16"/>
          <p:cNvSpPr txBox="1"/>
          <p:nvPr/>
        </p:nvSpPr>
        <p:spPr>
          <a:xfrm>
            <a:off x="9052560" y="2377440"/>
            <a:ext cx="2377440" cy="365760"/>
          </a:xfrm>
          <a:prstGeom prst="rect">
            <a:avLst/>
          </a:prstGeom>
          <a:noFill/>
        </p:spPr>
        <p:txBody>
          <a:bodyPr wrap="square">
            <a:spAutoFit/>
          </a:bodyPr>
          <a:lstStyle/>
          <a:p>
            <a:pPr algn="ctr"/>
            <a:r>
              <a:rPr sz="900" b="0" dirty="0">
                <a:solidFill>
                  <a:schemeClr val="bg1">
                    <a:lumMod val="65000"/>
                  </a:schemeClr>
                </a:solidFill>
                <a:latin typeface="Arial"/>
              </a:rPr>
              <a:t>Del total de </a:t>
            </a:r>
            <a:r>
              <a:rPr sz="900" b="0" dirty="0" err="1">
                <a:solidFill>
                  <a:schemeClr val="bg1">
                    <a:lumMod val="65000"/>
                  </a:schemeClr>
                </a:solidFill>
                <a:latin typeface="Arial"/>
              </a:rPr>
              <a:t>pasajeros</a:t>
            </a:r>
            <a:r>
              <a:rPr sz="900" b="0" dirty="0">
                <a:solidFill>
                  <a:schemeClr val="bg1">
                    <a:lumMod val="65000"/>
                  </a:schemeClr>
                </a:solidFill>
                <a:latin typeface="Arial"/>
              </a:rPr>
              <a:t> de la </a:t>
            </a:r>
            <a:r>
              <a:rPr sz="900" b="0" dirty="0" err="1">
                <a:solidFill>
                  <a:schemeClr val="bg1">
                    <a:lumMod val="65000"/>
                  </a:schemeClr>
                </a:solidFill>
                <a:latin typeface="Arial"/>
              </a:rPr>
              <a:t>flota</a:t>
            </a:r>
            <a:r>
              <a:rPr sz="900" b="0" dirty="0">
                <a:solidFill>
                  <a:schemeClr val="bg1">
                    <a:lumMod val="65000"/>
                  </a:schemeClr>
                </a:solidFill>
                <a:latin typeface="Arial"/>
              </a:rPr>
              <a:t>, </a:t>
            </a:r>
            <a:r>
              <a:rPr sz="900" b="0" dirty="0" err="1">
                <a:solidFill>
                  <a:schemeClr val="bg1">
                    <a:lumMod val="65000"/>
                  </a:schemeClr>
                </a:solidFill>
                <a:latin typeface="Arial"/>
              </a:rPr>
              <a:t>esta</a:t>
            </a:r>
            <a:r>
              <a:rPr sz="900" b="0" dirty="0">
                <a:solidFill>
                  <a:schemeClr val="bg1">
                    <a:lumMod val="65000"/>
                  </a:schemeClr>
                </a:solidFill>
                <a:latin typeface="Arial"/>
              </a:rPr>
              <a:t> 1 sola nave </a:t>
            </a:r>
            <a:r>
              <a:rPr sz="900" b="0" dirty="0" err="1">
                <a:solidFill>
                  <a:schemeClr val="bg1">
                    <a:lumMod val="65000"/>
                  </a:schemeClr>
                </a:solidFill>
                <a:latin typeface="Arial"/>
              </a:rPr>
              <a:t>los</a:t>
            </a:r>
            <a:r>
              <a:rPr sz="900" b="0" dirty="0">
                <a:solidFill>
                  <a:schemeClr val="bg1">
                    <a:lumMod val="65000"/>
                  </a:schemeClr>
                </a:solidFill>
                <a:latin typeface="Arial"/>
              </a:rPr>
              <a:t> </a:t>
            </a:r>
            <a:r>
              <a:rPr sz="900" b="0" dirty="0" err="1">
                <a:solidFill>
                  <a:schemeClr val="bg1">
                    <a:lumMod val="65000"/>
                  </a:schemeClr>
                </a:solidFill>
                <a:latin typeface="Arial"/>
              </a:rPr>
              <a:t>tiene</a:t>
            </a:r>
            <a:endParaRPr sz="900" b="0" dirty="0">
              <a:solidFill>
                <a:schemeClr val="bg1">
                  <a:lumMod val="65000"/>
                </a:schemeClr>
              </a:solidFill>
              <a:latin typeface="Arial"/>
            </a:endParaRPr>
          </a:p>
        </p:txBody>
      </p:sp>
      <p:sp>
        <p:nvSpPr>
          <p:cNvPr id="18" name="TextBox 17"/>
          <p:cNvSpPr txBox="1"/>
          <p:nvPr/>
        </p:nvSpPr>
        <p:spPr>
          <a:xfrm>
            <a:off x="457200" y="2971800"/>
            <a:ext cx="5486400" cy="274320"/>
          </a:xfrm>
          <a:prstGeom prst="rect">
            <a:avLst/>
          </a:prstGeom>
          <a:noFill/>
        </p:spPr>
        <p:txBody>
          <a:bodyPr wrap="square">
            <a:spAutoFit/>
          </a:bodyPr>
          <a:lstStyle/>
          <a:p>
            <a:pPr algn="l"/>
            <a:r>
              <a:rPr sz="900" b="1">
                <a:solidFill>
                  <a:srgbClr val="1B2A4A"/>
                </a:solidFill>
                <a:latin typeface="Arial"/>
              </a:rPr>
              <a:t>CONCENTRACION DE CAPACIDAD (Principio de Pareto)</a:t>
            </a:r>
          </a:p>
        </p:txBody>
      </p:sp>
      <p:sp>
        <p:nvSpPr>
          <p:cNvPr id="19" name="Rectangle 18"/>
          <p:cNvSpPr/>
          <p:nvPr/>
        </p:nvSpPr>
        <p:spPr>
          <a:xfrm>
            <a:off x="457200" y="3291840"/>
            <a:ext cx="5012579"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383280"/>
            <a:ext cx="5029200" cy="320040"/>
          </a:xfrm>
          <a:prstGeom prst="rect">
            <a:avLst/>
          </a:prstGeom>
          <a:noFill/>
        </p:spPr>
        <p:txBody>
          <a:bodyPr wrap="square">
            <a:spAutoFit/>
          </a:bodyPr>
          <a:lstStyle/>
          <a:p>
            <a:pPr algn="l"/>
            <a:r>
              <a:rPr sz="900" b="1">
                <a:solidFill>
                  <a:srgbClr val="FFFFFF"/>
                </a:solidFill>
                <a:latin typeface="Arial"/>
              </a:rPr>
              <a:t>Executor: 38,000 pax (99.7%)</a:t>
            </a:r>
          </a:p>
        </p:txBody>
      </p:sp>
      <p:sp>
        <p:nvSpPr>
          <p:cNvPr id="21" name="Rectangle 20"/>
          <p:cNvSpPr/>
          <p:nvPr/>
        </p:nvSpPr>
        <p:spPr>
          <a:xfrm>
            <a:off x="457200" y="3950208"/>
            <a:ext cx="16620" cy="45720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4041648"/>
            <a:ext cx="5029200" cy="320040"/>
          </a:xfrm>
          <a:prstGeom prst="rect">
            <a:avLst/>
          </a:prstGeom>
          <a:noFill/>
        </p:spPr>
        <p:txBody>
          <a:bodyPr wrap="square">
            <a:spAutoFit/>
          </a:bodyPr>
          <a:lstStyle/>
          <a:p>
            <a:pPr algn="l"/>
            <a:r>
              <a:rPr sz="900" b="0">
                <a:solidFill>
                  <a:srgbClr val="2C2C2C"/>
                </a:solidFill>
                <a:latin typeface="Arial"/>
              </a:rPr>
              <a:t>Las demas (59 naves): 126 pax (0.3%)</a:t>
            </a:r>
          </a:p>
        </p:txBody>
      </p:sp>
      <p:sp>
        <p:nvSpPr>
          <p:cNvPr id="23" name="TextBox 22"/>
          <p:cNvSpPr txBox="1"/>
          <p:nvPr/>
        </p:nvSpPr>
        <p:spPr>
          <a:xfrm>
            <a:off x="457200" y="4663440"/>
            <a:ext cx="5669280" cy="365760"/>
          </a:xfrm>
          <a:prstGeom prst="rect">
            <a:avLst/>
          </a:prstGeom>
          <a:noFill/>
        </p:spPr>
        <p:txBody>
          <a:bodyPr wrap="square">
            <a:spAutoFit/>
          </a:bodyPr>
          <a:lstStyle/>
          <a:p>
            <a:pPr algn="l"/>
            <a:r>
              <a:rPr sz="1000" b="1">
                <a:solidFill>
                  <a:srgbClr val="C0392B"/>
                </a:solidFill>
                <a:latin typeface="Arial"/>
              </a:rPr>
              <a:t>1 sola nave concentra el 99.7% de toda la capacidad de pasajeros de la galaxia.</a:t>
            </a:r>
          </a:p>
        </p:txBody>
      </p:sp>
      <p:sp>
        <p:nvSpPr>
          <p:cNvPr id="24" name="TextBox 23"/>
          <p:cNvSpPr txBox="1"/>
          <p:nvPr/>
        </p:nvSpPr>
        <p:spPr>
          <a:xfrm>
            <a:off x="457200" y="5074920"/>
            <a:ext cx="5669280" cy="640080"/>
          </a:xfrm>
          <a:prstGeom prst="rect">
            <a:avLst/>
          </a:prstGeom>
          <a:noFill/>
        </p:spPr>
        <p:txBody>
          <a:bodyPr wrap="square">
            <a:spAutoFit/>
          </a:bodyPr>
          <a:lstStyle/>
          <a:p>
            <a:pPr algn="l"/>
            <a:r>
              <a:rPr sz="1000" b="0">
                <a:solidFill>
                  <a:srgbClr val="1B2A4A"/>
                </a:solidFill>
                <a:latin typeface="Arial"/>
              </a:rPr>
              <a:t>POR QUE EL CONSEJO DEBE ACTUAR: Perder el Executor equivale a perder
la capacidad de evacuar cualquier planeta. Es un punto critico de falla.</a:t>
            </a:r>
          </a:p>
        </p:txBody>
      </p:sp>
      <p:sp>
        <p:nvSpPr>
          <p:cNvPr id="25" name="Rectangle 24"/>
          <p:cNvSpPr/>
          <p:nvPr/>
        </p:nvSpPr>
        <p:spPr>
          <a:xfrm>
            <a:off x="6400800" y="2926080"/>
            <a:ext cx="5303520" cy="37947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3017520"/>
            <a:ext cx="5120640" cy="274320"/>
          </a:xfrm>
          <a:prstGeom prst="rect">
            <a:avLst/>
          </a:prstGeom>
          <a:noFill/>
        </p:spPr>
        <p:txBody>
          <a:bodyPr wrap="square">
            <a:spAutoFit/>
          </a:bodyPr>
          <a:lstStyle/>
          <a:p>
            <a:pPr algn="l"/>
            <a:r>
              <a:rPr sz="900" b="1">
                <a:solidFill>
                  <a:srgbClr val="1B2A4A"/>
                </a:solidFill>
                <a:latin typeface="Arial"/>
              </a:rPr>
              <a:t>ARQUITECTURA UTILIZADA</a:t>
            </a:r>
          </a:p>
        </p:txBody>
      </p:sp>
      <p:sp>
        <p:nvSpPr>
          <p:cNvPr id="27" name="TextBox 26"/>
          <p:cNvSpPr txBox="1"/>
          <p:nvPr/>
        </p:nvSpPr>
        <p:spPr>
          <a:xfrm>
            <a:off x="6492240" y="3337560"/>
            <a:ext cx="5029200" cy="1920240"/>
          </a:xfrm>
          <a:prstGeom prst="rect">
            <a:avLst/>
          </a:prstGeom>
          <a:noFill/>
        </p:spPr>
        <p:txBody>
          <a:bodyPr wrap="square">
            <a:spAutoFit/>
          </a:bodyPr>
          <a:lstStyle/>
          <a:p>
            <a:pPr algn="l"/>
            <a:r>
              <a:rPr sz="900" b="0">
                <a:solidFill>
                  <a:srgbClr val="2C2C2C"/>
                </a:solidFill>
                <a:latin typeface="Arial"/>
              </a:rPr>
              <a:t>Los datos crudos en formato parquet fueron procesados con Python en VS Code: se limpiaron, transformaron y calcularon las metricas de cada pregunta de negocio. Las tablas resultantes se cargaron en Google Sheets como fuente de datos, y desde ahi se conectaron a Looker Studio para construir el dashboard publico. Para produccion a escala, este mismo flujo correria en Google Cloud Platform (GCP) con Google Drive como almacen de archivos, BigQuery para transformaciones masivas y Looker Studio como capa de visualizacion final.</a:t>
            </a:r>
          </a:p>
        </p:txBody>
      </p:sp>
      <p:sp>
        <p:nvSpPr>
          <p:cNvPr id="28" name="Rectangle 27"/>
          <p:cNvSpPr/>
          <p:nvPr/>
        </p:nvSpPr>
        <p:spPr>
          <a:xfrm>
            <a:off x="6492240" y="5349240"/>
            <a:ext cx="1143000" cy="54864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37960" y="5394960"/>
            <a:ext cx="1051560" cy="457200"/>
          </a:xfrm>
          <a:prstGeom prst="rect">
            <a:avLst/>
          </a:prstGeom>
          <a:noFill/>
        </p:spPr>
        <p:txBody>
          <a:bodyPr wrap="square">
            <a:spAutoFit/>
          </a:bodyPr>
          <a:lstStyle/>
          <a:p>
            <a:pPr algn="ctr"/>
            <a:r>
              <a:rPr sz="750" b="0">
                <a:solidFill>
                  <a:srgbClr val="1B2A4A"/>
                </a:solidFill>
                <a:latin typeface="Arial"/>
              </a:rPr>
              <a:t>Archivos
Parquet</a:t>
            </a:r>
          </a:p>
        </p:txBody>
      </p:sp>
      <p:sp>
        <p:nvSpPr>
          <p:cNvPr id="30" name="TextBox 29"/>
          <p:cNvSpPr txBox="1"/>
          <p:nvPr/>
        </p:nvSpPr>
        <p:spPr>
          <a:xfrm>
            <a:off x="7680960" y="5440680"/>
            <a:ext cx="137160" cy="320040"/>
          </a:xfrm>
          <a:prstGeom prst="rect">
            <a:avLst/>
          </a:prstGeom>
          <a:noFill/>
        </p:spPr>
        <p:txBody>
          <a:bodyPr wrap="square">
            <a:spAutoFit/>
          </a:bodyPr>
          <a:lstStyle/>
          <a:p>
            <a:pPr algn="ctr"/>
            <a:r>
              <a:rPr sz="1200" b="1">
                <a:solidFill>
                  <a:srgbClr val="8C9BAA"/>
                </a:solidFill>
                <a:latin typeface="Arial"/>
              </a:rPr>
              <a:t>&gt;</a:t>
            </a:r>
          </a:p>
        </p:txBody>
      </p:sp>
      <p:sp>
        <p:nvSpPr>
          <p:cNvPr id="31" name="Rectangle 30"/>
          <p:cNvSpPr/>
          <p:nvPr/>
        </p:nvSpPr>
        <p:spPr>
          <a:xfrm>
            <a:off x="7772400" y="5349240"/>
            <a:ext cx="1143000" cy="548640"/>
          </a:xfrm>
          <a:prstGeom prst="rect">
            <a:avLst/>
          </a:prstGeom>
          <a:solidFill>
            <a:srgbClr val="D6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18120" y="5394960"/>
            <a:ext cx="1051560" cy="457200"/>
          </a:xfrm>
          <a:prstGeom prst="rect">
            <a:avLst/>
          </a:prstGeom>
          <a:noFill/>
        </p:spPr>
        <p:txBody>
          <a:bodyPr wrap="square">
            <a:spAutoFit/>
          </a:bodyPr>
          <a:lstStyle/>
          <a:p>
            <a:pPr algn="ctr"/>
            <a:r>
              <a:rPr sz="750" b="0">
                <a:solidFill>
                  <a:srgbClr val="1B2A4A"/>
                </a:solidFill>
                <a:latin typeface="Arial"/>
              </a:rPr>
              <a:t>Python
(VS Code)</a:t>
            </a:r>
          </a:p>
        </p:txBody>
      </p:sp>
      <p:sp>
        <p:nvSpPr>
          <p:cNvPr id="33" name="TextBox 32"/>
          <p:cNvSpPr txBox="1"/>
          <p:nvPr/>
        </p:nvSpPr>
        <p:spPr>
          <a:xfrm>
            <a:off x="8961120" y="5440680"/>
            <a:ext cx="137160" cy="320040"/>
          </a:xfrm>
          <a:prstGeom prst="rect">
            <a:avLst/>
          </a:prstGeom>
          <a:noFill/>
        </p:spPr>
        <p:txBody>
          <a:bodyPr wrap="square">
            <a:spAutoFit/>
          </a:bodyPr>
          <a:lstStyle/>
          <a:p>
            <a:pPr algn="ctr"/>
            <a:r>
              <a:rPr sz="1200" b="1">
                <a:solidFill>
                  <a:srgbClr val="8C9BAA"/>
                </a:solidFill>
                <a:latin typeface="Arial"/>
              </a:rPr>
              <a:t>&gt;</a:t>
            </a:r>
          </a:p>
        </p:txBody>
      </p:sp>
      <p:sp>
        <p:nvSpPr>
          <p:cNvPr id="34" name="Rectangle 33"/>
          <p:cNvSpPr/>
          <p:nvPr/>
        </p:nvSpPr>
        <p:spPr>
          <a:xfrm>
            <a:off x="9052560" y="5349240"/>
            <a:ext cx="1143000" cy="548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98280" y="5394960"/>
            <a:ext cx="1051560" cy="457200"/>
          </a:xfrm>
          <a:prstGeom prst="rect">
            <a:avLst/>
          </a:prstGeom>
          <a:noFill/>
        </p:spPr>
        <p:txBody>
          <a:bodyPr wrap="square">
            <a:spAutoFit/>
          </a:bodyPr>
          <a:lstStyle/>
          <a:p>
            <a:pPr algn="ctr"/>
            <a:r>
              <a:rPr sz="750" b="0">
                <a:solidFill>
                  <a:srgbClr val="FFFFFF"/>
                </a:solidFill>
                <a:latin typeface="Arial"/>
              </a:rPr>
              <a:t>Google
Sheets</a:t>
            </a:r>
          </a:p>
        </p:txBody>
      </p:sp>
      <p:sp>
        <p:nvSpPr>
          <p:cNvPr id="36" name="TextBox 35"/>
          <p:cNvSpPr txBox="1"/>
          <p:nvPr/>
        </p:nvSpPr>
        <p:spPr>
          <a:xfrm>
            <a:off x="10241280" y="5440680"/>
            <a:ext cx="137160" cy="320040"/>
          </a:xfrm>
          <a:prstGeom prst="rect">
            <a:avLst/>
          </a:prstGeom>
          <a:noFill/>
        </p:spPr>
        <p:txBody>
          <a:bodyPr wrap="square">
            <a:spAutoFit/>
          </a:bodyPr>
          <a:lstStyle/>
          <a:p>
            <a:pPr algn="ctr"/>
            <a:r>
              <a:rPr sz="1200" b="1">
                <a:solidFill>
                  <a:srgbClr val="8C9BAA"/>
                </a:solidFill>
                <a:latin typeface="Arial"/>
              </a:rPr>
              <a:t>&gt;</a:t>
            </a:r>
          </a:p>
        </p:txBody>
      </p:sp>
      <p:sp>
        <p:nvSpPr>
          <p:cNvPr id="37" name="Rectangle 36"/>
          <p:cNvSpPr/>
          <p:nvPr/>
        </p:nvSpPr>
        <p:spPr>
          <a:xfrm>
            <a:off x="10332720" y="5349240"/>
            <a:ext cx="1143000" cy="5486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378440" y="5394960"/>
            <a:ext cx="1051560" cy="457200"/>
          </a:xfrm>
          <a:prstGeom prst="rect">
            <a:avLst/>
          </a:prstGeom>
          <a:noFill/>
        </p:spPr>
        <p:txBody>
          <a:bodyPr wrap="square">
            <a:spAutoFit/>
          </a:bodyPr>
          <a:lstStyle/>
          <a:p>
            <a:pPr algn="ctr"/>
            <a:r>
              <a:rPr sz="750" b="0">
                <a:solidFill>
                  <a:srgbClr val="FFFFFF"/>
                </a:solidFill>
                <a:latin typeface="Arial"/>
              </a:rPr>
              <a:t>Looker
Studio</a:t>
            </a:r>
          </a:p>
        </p:txBody>
      </p:sp>
      <p:sp>
        <p:nvSpPr>
          <p:cNvPr id="39" name="TextBox 38"/>
          <p:cNvSpPr txBox="1"/>
          <p:nvPr/>
        </p:nvSpPr>
        <p:spPr>
          <a:xfrm>
            <a:off x="6492240" y="5989320"/>
            <a:ext cx="5029200" cy="320040"/>
          </a:xfrm>
          <a:prstGeom prst="rect">
            <a:avLst/>
          </a:prstGeom>
          <a:noFill/>
        </p:spPr>
        <p:txBody>
          <a:bodyPr wrap="square">
            <a:spAutoFit/>
          </a:bodyPr>
          <a:lstStyle/>
          <a:p>
            <a:pPr algn="l"/>
            <a:r>
              <a:rPr sz="750" b="0">
                <a:solidFill>
                  <a:srgbClr val="8C9BAA"/>
                </a:solidFill>
                <a:latin typeface="Arial"/>
              </a:rPr>
              <a:t>Lo anterior es lo que se implemento. En produccion se escalaria con GCP y BigQuery.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902</Words>
  <Application>Microsoft Office PowerPoint</Application>
  <PresentationFormat>Personalizado</PresentationFormat>
  <Paragraphs>129</Paragraphs>
  <Slides>5</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vt:i4>
      </vt:variant>
    </vt:vector>
  </HeadingPairs>
  <TitlesOfParts>
    <vt:vector size="8"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sebastian cadena</cp:lastModifiedBy>
  <cp:revision>3</cp:revision>
  <dcterms:created xsi:type="dcterms:W3CDTF">2013-01-27T09:14:16Z</dcterms:created>
  <dcterms:modified xsi:type="dcterms:W3CDTF">2026-05-05T15:53:02Z</dcterms:modified>
  <cp:category/>
</cp:coreProperties>
</file>